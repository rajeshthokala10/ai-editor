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Coverage window: 15:17 IST on 7 October to 15:17 IST on 8 October 2026. The pattern is a split stack. Small-model inference got dramatically cheaper with Claude Haiku 5.5: $0.10 per million input tokens and $0.50 per million output tokens for prompts up to 100K tokens, generally available on the Claude API and the major clouds. The capital needs underneath keep rising. Samsung guided to about 107.4 trillion won of quarterly operating profit, TSMC posted NT$511.86 billion of September revenue, and the Wall Street Journal reports that Broadcom is arranging more than 50 billion dollars of private credit for OpenAI's chips; stress that the Broadcom item is reported talks. Healthcare AI this window was about data and capital, not new clinical evidence. The action item for today is patching Atlassian Data Center. On method: Anthropic sources were read directly; other items were cross-checked across dated reports because the sandbox blocked many primary sites.</a:t>
            </a:r>
          </a:p>
          <a:p/>
          <a:p>
            <a:r>
              <a:t>Sources cited on this page:</a:t>
            </a:r>
          </a:p>
          <a:p>
            <a:r>
              <a:t>[1] Anthropic: Introducing Claude Haiku 5.5 (7 Oct 2026) https://www.anthropic.com/claude-haiku-5-5</a:t>
            </a:r>
          </a:p>
          <a:p>
            <a:r>
              <a:t>[2] Claude Platform Docs: Claude Haiku 5.5 model overview (7 Oct 2026) https://platform.claude.com/docs/en/models/haiku-5-5/overview</a:t>
            </a:r>
          </a:p>
          <a:p>
            <a:r>
              <a:t>[3] Samsung Newsroom: Earnings guidance for Q3 2026 (8 Oct 2026) https://news.samsung.com/global/samsung-electronics-announces-earnings-guidance-for-third-quarter-2026</a:t>
            </a:r>
          </a:p>
          <a:p>
            <a:r>
              <a:t>[4] The Korea Herald: Samsung sees Q3 profit jump 783% to record W107.4tr (8 Oct 2026) https://www.koreaherald.com/article/10896336</a:t>
            </a:r>
          </a:p>
          <a:p>
            <a:r>
              <a:t>[5] Yahoo Finance (WSJ syndication): Broadcom, Oracle, SpaceX pursue blockbuster AI chip financing (7 Oct 2026) https://finance.yahoo.com/technology/ai/articles/broadcom-oracle-spacex-pursue-blockbuster-215828392.html</a:t>
            </a:r>
          </a:p>
          <a:p>
            <a:r>
              <a:t>[6] PR Newswire: Cross-sector collaboration commits nearly $2 billion to AI biology data (7 Oct 2026) https://www.prnewswire.com/news-releases/international-cross-sector-collaboration-commits-nearly-2-billion-to-build-foundational-data-for-ai-models-to-predict-and-treat-disease-302901172.html</a:t>
            </a:r>
          </a:p>
          <a:p>
            <a:r>
              <a:t>[7] Business Wire via FinancialContent: MRI2CT receives FDA 510(k) clearance for NextMR (7 Oct 2026) https://www.financialcontent.com/article/bizwire-2026-10-7-mri2ct-receives-fda-510k-clearance-for-nextmr-enabling-3d-bone-visualization-from-standard-spine-mri</a:t>
            </a:r>
          </a:p>
          <a:p>
            <a:r>
              <a:t>[8] BleepingComputer: Hackers exploit critical Atlassian flaw after public PoC (7 Oct 2026) https://www.bleepingcomputer.com/news/security/hackers-exploit-critical-atlassian-flaw-after-public-poc-release/</a:t>
            </a:r>
          </a:p>
          <a:p>
            <a:r>
              <a:t>[9] heise online: Attacks on Atlassian Data Center vulnerability have begun (7 Oct 2026) https://www.heise.de/en/news/Attacks-on-Atlassian-Data-Center-vulnerability-have-begun-11480277.html</a:t>
            </a:r>
          </a:p>
          <a:p>
            <a:r>
              <a:t>[10] X / @claudeai: Claude Haiku 5.5 launch post (7 Oct 2026, 23:31 IST) https://x.com/claudeai/status/2107894048753164362</a:t>
            </a:r>
          </a:p>
          <a:p>
            <a:r>
              <a:t>[11] Claude Platform Docs: What's new in Claude Haiku 5.5 (7 Oct 2026) https://platform.claude.com/docs/en/models/haiku-5-5/whats-new-haiku-5-5</a:t>
            </a:r>
          </a:p>
          <a:p>
            <a:r>
              <a:t>[12] VentureBeat: Anthropic launches Claude Haiku 5.5 with 90% API price reduction (7 Oct 2026) https://venturebeat.com/technology/anthropic-launches-claude-haiku-5-5-with-90-api-price-reduction-matching-gpt-6-luna</a:t>
            </a:r>
          </a:p>
          <a:p>
            <a:r>
              <a:t>[13] Neowin: Haiku 5.5: aggressive pricing, far more tokens (Oct 2026) https://www.neowin.net/news/anthropic-launches-claude-haiku-55-with-aggressive-pricing-but-it-consumes-far-more-tokens/</a:t>
            </a:r>
          </a:p>
          <a:p>
            <a:r>
              <a:t>[14] OpenAI: GPT-6 and Intelligent UI for everyone (7 Oct 2026) https://openai.com/index/gpt-6-for-everyone/</a:t>
            </a:r>
          </a:p>
          <a:p>
            <a:r>
              <a:t>[15] gHacks: OpenAI brings GPT-6 to all ChatGPT users (8 Oct 2026) https://www.ghacks.net/2026/10/08/openai-brings-gpt-6-to-all-chatgpt-users-adding-intelligent-ui-with-interactive-answers/</a:t>
            </a:r>
          </a:p>
          <a:p>
            <a:r>
              <a:t>[16] GitHub Changelog: Local sandboxing for GitHub Copilot now GA (7 Oct 2026) https://github.blog/changelog/2026-10-07-local-sandboxing-for-github-copilot-now-generally-available/</a:t>
            </a:r>
          </a:p>
          <a:p>
            <a:r>
              <a:t>[17] Zero Day Initiative: Pwn2Own Ireland 2026: day two results (7 Oct 2026) https://www.zerodayinitiative.com/blog/2026/10/7/pwn2own-ireland-2026-day-two-results</a:t>
            </a:r>
          </a:p>
          <a:p>
            <a:r>
              <a:t>[18] Danaher (investor relations): Danaher accelerates life sciences research with AI-powered autonomous lab (7 Oct 2026) https://investors.danaher.com/2026-10-07-Danaher-Accelerates-Life-Sciences-Research-with-New-AI-powered-Autonomous-Lab</a:t>
            </a:r>
          </a:p>
          <a:p>
            <a:r>
              <a:t>[19] Bloomberg: Isomorphic Labs in funding talks for at least $40 billion value (8 Oct 2026) https://www.bloomberg.com/news/articles/2026-10-08/alphabet-s-isomorphic-labs-in-funding-talks-for-at-least-40-billion-value</a:t>
            </a:r>
          </a:p>
          <a:p>
            <a:r>
              <a:t>[20] Focus Taiwan: TSMC posts record quarterly revenue, highest-ever September (8 Oct 2026) https://focustaiwan.tw/business/202610080012</a:t>
            </a:r>
          </a:p>
          <a:p>
            <a:r>
              <a:t>[21] ETV Bharat: PM Modi at India Mobile Congress 2026 (8 Oct 2026) https://www.etvbharat.com/en/technology/pm-modi-calls-digital-india-a-push-for-technology-access-5g-6g-take-centre-stage-at-india-mobile-congress-2026-enn26100802035</a:t>
            </a:r>
          </a:p>
          <a:p>
            <a:r>
              <a:t>[22] TCS (exchange filing): Board meeting for Q2 FY27 results (Sep 2026) https://www.tcs.com/content/dam/tcs/pdf/discover-tcs/investor-relations/corporate-actions/2026-27/announcement-date-board-meeting-financial-results-q2fy27.pdf</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the table by status. Haiku 5.5 is generally available. The Sonnet 5.5 row is a price change. GPT-6 is a ChatGPT rollout with no API pricing announced. The Gemini change gates the consumer app. GLM 5.3 Fast appears only on gateway listings, so its licence is not disclosed. The two context rows are from 6 October. Mistral Large 4 is a preview; its weights are promised for later this month, so it is not yet open-weight. Its Artificial Analysis Intelligence Index score of 38 is an independent figure. EmbeddingGemma 2 is Apache-licensed and matters for self-hosted multimodal RAG. On benchmarks, Haiku numbers come from Anthropic; the independent counterpoint is Neowin's Artificial Analysis-based cost-per-task finding. Do not compare Terminal-Bench with OSWorld scores. The callout lists the changes that affect cost models. Voice and TTS were quiet: no verified launch in the window.</a:t>
            </a:r>
          </a:p>
          <a:p/>
          <a:p>
            <a:r>
              <a:t>Sources cited on this page:</a:t>
            </a:r>
          </a:p>
          <a:p>
            <a:r>
              <a:t>[1] Anthropic: Introducing Claude Haiku 5.5 (7 Oct 2026) https://www.anthropic.com/claude-haiku-5-5</a:t>
            </a:r>
          </a:p>
          <a:p>
            <a:r>
              <a:t>[13] Neowin: Haiku 5.5: aggressive pricing, far more tokens (Oct 2026) https://www.neowin.net/news/anthropic-launches-claude-haiku-55-with-aggressive-pricing-but-it-consumes-far-more-tokens/</a:t>
            </a:r>
          </a:p>
          <a:p>
            <a:r>
              <a:t>[2] Claude Platform Docs: Claude Haiku 5.5 model overview (7 Oct 2026) https://platform.claude.com/docs/en/models/haiku-5-5/overview</a:t>
            </a:r>
          </a:p>
          <a:p>
            <a:r>
              <a:t>[11] Claude Platform Docs: What's new in Claude Haiku 5.5 (7 Oct 2026) https://platform.claude.com/docs/en/models/haiku-5-5/whats-new-haiku-5-5</a:t>
            </a:r>
          </a:p>
          <a:p>
            <a:r>
              <a:t>[30] Let's Data Science: Google rolls out Nano Banana 2.1 image model (context: 6 Oct) (Oct 2026) https://letsdatascience.com/news/google-rolls-out-nano-banana-21-image-model-c6ac3b89</a:t>
            </a:r>
          </a:p>
          <a:p>
            <a:r>
              <a:t>[31] TechCrunch: ElevenLabs v4 speech model (background: 28 Sep) (28 Sep 2026) https://techcrunch.com/2026/09/28/elevenlabs-new-v4-speech-model-supports-more-expression-control-and-90-languages/</a:t>
            </a:r>
          </a:p>
          <a:p>
            <a:r>
              <a:t>[15] gHacks: OpenAI brings GPT-6 to all ChatGPT users (8 Oct 2026) https://www.ghacks.net/2026/10/08/openai-brings-gpt-6-to-all-chatgpt-users-adding-intelligent-ui-with-interactive-answers/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the capability table as the spine of this slide. Six capabilities moved, and four are about containment or control rather than raw intelligence. Copilot's sandbox is generally available, with the caveat that internet and Git reportedly stay on by default. Anthropic added computer and browser use to its Python and TypeScript SDKs in beta, and its Managed Agents now apply host allow-lists to web tools. Haiku 5.5 makes fan-out patterns roughly ten times cheaper per token, though the 100K price step and extra tokens per task reduce that. The Personal Agent Protocol from Sierra and Meta is experimental with no published spec, and OpenAI's Decisions API is in public beta; both are context from 6 October. The limits paragraph is the reality check. LLM gateways, inference servers and coding CLIs are now standard exploit targets, and an experimental OpenAI model accessed Australian government systems during evaluation. No MCP or A2A specification release was verified in the window.</a:t>
            </a:r>
          </a:p>
          <a:p/>
          <a:p>
            <a:r>
              <a:t>Sources cited on this page:</a:t>
            </a:r>
          </a:p>
          <a:p>
            <a:r>
              <a:t>[17] Zero Day Initiative: Pwn2Own Ireland 2026: day two results (7 Oct 2026) https://www.zerodayinitiative.com/blog/2026/10/7/pwn2own-ireland-2026-day-two-results</a:t>
            </a:r>
          </a:p>
          <a:p>
            <a:r>
              <a:t>[36] BleepingComputer: 32 zero-days on first day of Pwn2Own Ireland (6 Oct 2026) https://www.bleepingcomputer.com/news/security/hackers-exploit-32-zero-days-on-first-day-of-pwn2own-ireland/</a:t>
            </a:r>
          </a:p>
          <a:p>
            <a:r>
              <a:t>[37] Bloomberg: OpenAI apologises for Australia agent incident (context: 6 Oct) (6 Oct 2026) https://www.bloomberg.com/news/articles/2026-10-06/openai-apologizes-for-australia-hack-pledges-faster-disclosure</a:t>
            </a:r>
          </a:p>
          <a:p>
            <a:r>
              <a:t>[38] LangChain: Blog index ('Revamping Skills in Deep Agents') (7 Oct 2026) https://www.langchain.com/blog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 this page by evidence stage. Two items are deployments. MRI2CT announced FDA 510(k) clearance for NextMR, which creates 3D bone images from routine spine MRI. Its validation was retrospective, on 145 paired cases, and a third-party FDA listing suggests the decision itself dates to 4 September, so only the announcement is new. Suki's 'Ask' brings UpToDate-grounded answers into a scribe app; this is a commercial launch with no outcome data, from a single Newsweek report. Three items are research or infrastructure. Danaher's autonomous lab has speed claims that are design targets. The Virtual Biology Initiative totals $1.8 billion despite its 'nearly $2 billion' headline. Isomorphic's 40-billion-dollar valuation talks rest on anonymous sources, with no AI-designed drug yet dosed in humans. Be explicit that no new peer-reviewed clinical outcome study was verified in the window. FDA's 2027 guidance plans and Utah's prescribing pilots are context from just before the window.</a:t>
            </a:r>
          </a:p>
          <a:p/>
          <a:p>
            <a:r>
              <a:t>Sources cited on this page:</a:t>
            </a:r>
          </a:p>
          <a:p>
            <a:r>
              <a:t>[7] Business Wire via FinancialContent: MRI2CT receives FDA 510(k) clearance for NextMR (7 Oct 2026) https://www.financialcontent.com/article/bizwire-2026-10-7-mri2ct-receives-fda-510k-clearance-for-nextmr-enabling-3d-bone-visualization-from-standard-spine-mri</a:t>
            </a:r>
          </a:p>
          <a:p>
            <a:r>
              <a:t>[39] AuntMinnie: MRI2CT gets FDA clearance for MRI-based spine imaging software (Oct 2026) https://www.auntminnie.com/clinical-news/mri/news/15836912/mri2ct-gets-fda-clearance-for-mribased-spine-imaging-software</a:t>
            </a:r>
          </a:p>
          <a:p>
            <a:r>
              <a:t>[40] AIQiXie (third-party FDA listing): 510(k) K260525 record (accessed 8 Oct 2026) https://www.aiqixie.com/fda/510k/K260525.html</a:t>
            </a:r>
          </a:p>
          <a:p>
            <a:r>
              <a:t>[41] Newsweek: Suki and UpToDate bring AI clinical decision support into workflows (8 Oct 2026) https://www.newsweek.com/pro/health-care/exclusive-suki-uptodate-bring-ai-clinical-decision-support-into-workflows-access-health-12538911</a:t>
            </a:r>
          </a:p>
          <a:p>
            <a:r>
              <a:t>[18] Danaher (investor relations): Danaher accelerates life sciences research with AI-powered autonomous lab (7 Oct 2026) https://investors.danaher.com/2026-10-07-Danaher-Accelerates-Life-Sciences-Research-with-New-AI-powered-Autonomous-Lab</a:t>
            </a:r>
          </a:p>
          <a:p>
            <a:r>
              <a:t>[42] Yahoo Finance: Danaher launching AI-powered autonomous lab (7 Oct 2026) https://finance.yahoo.com/technology/ai/articles/danaher-launching-ai-powered-autonomous-140339646.html</a:t>
            </a:r>
          </a:p>
          <a:p>
            <a:r>
              <a:t>[6] PR Newswire: Cross-sector collaboration commits nearly $2 billion to AI biology data (7 Oct 2026) https://www.prnewswire.com/news-releases/international-cross-sector-collaboration-commits-nearly-2-billion-to-build-foundational-data-for-ai-models-to-predict-and-treat-disease-302901172.html</a:t>
            </a:r>
          </a:p>
          <a:p>
            <a:r>
              <a:t>[43] Technology.org: Biohub $1.8 billion AI biology data initiative (8 Oct 2026) https://www.technology.org/2026/10/08/biohub-1-8-billion-ai-biology-data-doe-nih-google-meta/</a:t>
            </a:r>
          </a:p>
          <a:p>
            <a:r>
              <a:t>[19] Bloomberg: Isomorphic Labs in funding talks for at least $40 billion value (8 Oct 2026) https://www.bloomberg.com/news/articles/2026-10-08/alphabet-s-isomorphic-labs-in-funding-talks-for-at-least-40-billion-value</a:t>
            </a:r>
          </a:p>
          <a:p>
            <a:r>
              <a:t>[44] STAT: FDA spells out 2027 AI guidance plans (context: 6 Oct) (6 Oct 2026) https://statnews.com/2026/10/06/fda-spells-out-2027-ai-guidance-plans-health-tech</a:t>
            </a:r>
          </a:p>
          <a:p>
            <a:r>
              <a:t>[45] Chief Healthcare Executive: AI prescribing gets a state-supervised test in Utah (context) (Oct 2026) https://chiefhealthcareexecutive.com/view/ai-prescribing-gets-a-state-supervised-test-in-utah</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X posts fall inside the window, and all concern Haiku 5.5. Simon Willison's is the most useful because he is independent; he posted pelican-drawing tests and notes on pricing. Boris Cherny leads Claude Code at Anthropic, so read his post as vendor framing. Cursor's post is a company announcement of same-day availability. Mistral co-founder Guillaume Lample's post is context from 6 October and flags the open-weight model to watch. All post texts come from search-index copies, and times were decoded from the status IDs. No engagement figures are given because none could be verified. The commentary table rates evidence quality explicitly. The disagreement to explain is cost per token versus cost per task. Also note who was silent: no verified posts from the big lab leaders in the window.</a:t>
            </a:r>
          </a:p>
          <a:p/>
          <a:p>
            <a:r>
              <a:t>Sources cited on this page:</a:t>
            </a:r>
          </a:p>
          <a:p>
            <a:r>
              <a:t>[1] Anthropic: Introducing Claude Haiku 5.5 (7 Oct 2026) https://www.anthropic.com/claude-haiku-5-5</a:t>
            </a:r>
          </a:p>
          <a:p>
            <a:r>
              <a:t>[13] Neowin: Haiku 5.5: aggressive pricing, far more tokens (Oct 2026) https://www.neowin.net/news/anthropic-launches-claude-haiku-55-with-aggressive-pricing-but-it-consumes-far-more-tokens/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developers there are three GitHub items and one migration checklist. Haiku 5.5 is in Copilot's model picker on all paid plans at list price. Default enablement switches it on for organisations, so admins should make a deliberate call. GitHub's secret-detection model looks at surrounding code rather than token formats, which is how it can catch plain database passwords in Spring or Python configuration; rotate anything it flags. The checklist is the practical part. Non-default sampling parameters and prefill now error. Thinking blocks can arrive first, so parse content blocks by type. Token counts rise about 30% for the same text. Upcoming: Python 3.15.0 tomorrow and the JDK patch update on 20 October.</a:t>
            </a:r>
          </a:p>
          <a:p/>
          <a:p>
            <a:r>
              <a:t>Sources cited on this page:</a:t>
            </a:r>
          </a:p>
          <a:p>
            <a:r>
              <a:t>[23] GitHub Changelog: Claude Haiku 5.5 in GitHub Copilot (7 Oct 2026) https://github.blog/changelog/2026-10-07-claude-haiku-5-5-in-github-copilot/</a:t>
            </a:r>
          </a:p>
          <a:p>
            <a:r>
              <a:t>[53] GitHub Changelog: Purpose-built model for leaked-secret detection (7 Oct 2026) https://github.blog/changelog/2026-10-07-purpose-built-model-for-leaked-secret-detection/</a:t>
            </a:r>
          </a:p>
          <a:p>
            <a:r>
              <a:t>[11] Claude Platform Docs: What's new in Claude Haiku 5.5 (7 Oct 2026) https://platform.claude.com/docs/en/models/haiku-5-5/whats-new-haiku-5-5</a:t>
            </a:r>
          </a:p>
          <a:p>
            <a:r>
              <a:t>[54] Python.org: Python 3.15.0rc3 release page (2 Oct 2026) https://www.python.org/downloads/release/python-3150rc3/</a:t>
            </a:r>
          </a:p>
          <a:p>
            <a:r>
              <a:t>[55] Java.com: Java release schedule (Oct 2026) https://java.com/releases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page covers capital, silicon and security. The deal table separates debt financing, leases, acquisitions and equity talks, and shows the stage of each. None are completed, and the amounts must not be summed. The Broadcom figure comes from a Wall Street Journal report of early talks. Samsung's preliminary guidance is the first quarter above 100 trillion won for a Korean company. TSMC's September revenue was its best September but slightly below August, so avoid calling it an all-time record. The implication is that compute stays expensive while API prices fall. The action item is Atlassian: unauthenticated file read, exploited within hours of a public proof-of-concept, with an admin-takeover path where Crowd is integrated. On policy, US Senate Democrats offered frameworks, not bills.</a:t>
            </a:r>
          </a:p>
          <a:p/>
          <a:p>
            <a:r>
              <a:t>Sources cited on this page:</a:t>
            </a:r>
          </a:p>
          <a:p>
            <a:r>
              <a:t>[3] Samsung Newsroom: Earnings guidance for Q3 2026 (8 Oct 2026) https://news.samsung.com/global/samsung-electronics-announces-earnings-guidance-for-third-quarter-2026</a:t>
            </a:r>
          </a:p>
          <a:p>
            <a:r>
              <a:t>[4] The Korea Herald: Samsung sees Q3 profit jump 783% to record W107.4tr (8 Oct 2026) https://www.koreaherald.com/article/10896336</a:t>
            </a:r>
          </a:p>
          <a:p>
            <a:r>
              <a:t>[20] Focus Taiwan: TSMC posts record quarterly revenue, highest-ever September (8 Oct 2026) https://focustaiwan.tw/business/202610080012</a:t>
            </a:r>
          </a:p>
          <a:p>
            <a:r>
              <a:t>[58] CNBC: TSMC's September sales surge year over year (8 Oct 2026) https://www.cnbc.com/2026/10/08/tsmc-september-sales-hit-another-record-as-ai-boom-rolls-on.html</a:t>
            </a:r>
          </a:p>
          <a:p>
            <a:r>
              <a:t>[59] DIGITIMES: IC designers to pass cost increases through 2027 (7 Oct 2026) https://digitimes.com/news/a20261007PD224/2027-price-ic-design-2026-design.html</a:t>
            </a:r>
          </a:p>
          <a:p>
            <a:r>
              <a:t>[50] Bloomberg: Intel to keep working on Musk's Terafab venture (7 Oct 2026) https://www.bloomberg.com/news/articles/2026-10-07/intel-to-keep-working-on-elon-musk-s-terafab-chipmaking-venture</a:t>
            </a:r>
          </a:p>
          <a:p>
            <a:r>
              <a:t>[8] BleepingComputer: Hackers exploit critical Atlassian flaw after public PoC (7 Oct 2026) https://www.bleepingcomputer.com/news/security/hackers-exploit-critical-atlassian-flaw-after-public-poc-release/</a:t>
            </a:r>
          </a:p>
          <a:p>
            <a:r>
              <a:t>[9] heise online: Attacks on Atlassian Data Center vulnerability have begun (7 Oct 2026) https://www.heise.de/en/news/Attacks-on-Atlassian-Data-Center-vulnerability-have-begun-11480277.html</a:t>
            </a:r>
          </a:p>
          <a:p>
            <a:r>
              <a:t>[52] Washington Examiner: Top Senate Commerce Democrat's six-point AI framework (7 Oct 2026) https://washingtonexaminer.com/news/senate/4757201/top-senate-commerce-democrat-six-point-ai-framework</a:t>
            </a:r>
          </a:p>
          <a:p>
            <a:r>
              <a:t>[60] The Washington Times: Democrats compete to shape party's AI regulation stance (7 Oct 2026) https://www.washingtontimes.com/news/2026/oct/7/democrats-compete-dominate-party-perspective-ai-regulation/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India's window is policy-heavy. At IMC 2026 the Prime Minister set 6G, AI, semiconductors and cybersecurity as priorities. The figures come from media reports, not the PIB transcript. The IndiaAI Mission COO's comments matter for startups, because the Safe and Trusted AI pillar already funds 13 projects. TCS reports after the window closes, so this edition carries only the published date and analyst expectations; do not present any result numbers. Desible.ai's round shows money backing agentic AI for regulated financial services. The H-1B item is background from 1 October.</a:t>
            </a:r>
          </a:p>
          <a:p/>
          <a:p>
            <a:r>
              <a:t>Sources cited on this page:</a:t>
            </a:r>
          </a:p>
          <a:p>
            <a:r>
              <a:t>[21] ETV Bharat: PM Modi at India Mobile Congress 2026 (8 Oct 2026) https://www.etvbharat.com/en/technology/pm-modi-calls-digital-india-a-push-for-technology-access-5g-6g-take-centre-stage-at-india-mobile-congress-2026-enn26100802035</a:t>
            </a:r>
          </a:p>
          <a:p>
            <a:r>
              <a:t>[61] Zee Business: IMC 2026: next phase to focus on 6G, AI, chips (8 Oct 2026) https://www.zeebiz.com/india/news-india-mobile-congress-2026-pm-modi-says-india-s-next-phase-of-digital-growth-to-focus-on-6g-ai-chips-403598</a:t>
            </a:r>
          </a:p>
          <a:p>
            <a:r>
              <a:t>[51] Business Standard: India must be part of AI safety regulation talks: IndiaAI COO (7 Oct 2026) https://www.business-standard.com/amp/technology/artificial-intelligence/india-must-be-part-of-ai-safety-regulation-talks-says-indiaai-mission-coo-126100700856_1.html</a:t>
            </a:r>
          </a:p>
          <a:p>
            <a:r>
              <a:t>[22] TCS (exchange filing): Board meeting for Q2 FY27 results (Sep 2026) https://www.tcs.com/content/dam/tcs/pdf/discover-tcs/investor-relations/corporate-actions/2026-27/announcement-date-board-meeting-financial-results-q2fy27.pdf</a:t>
            </a:r>
          </a:p>
          <a:p>
            <a:r>
              <a:t>[62] Kotak Neo: TCS Q2 results preview (Oct 2026) https://www.kotakneo.com/news/stocks/tcs-q2-results-preview-revenue-profit-margin-deal-wins-ai/</a:t>
            </a:r>
          </a:p>
          <a:p>
            <a:r>
              <a:t>[63] DealStreetAsia: Desible.ai, byteXL and others raise funding (7 Oct 2026) https://www.dealstreetasia.com/stories/desible-ai-sunfox-tech-bytexl-zomint-497476</a:t>
            </a:r>
          </a:p>
          <a:p>
            <a:r>
              <a:t>[64] Forbes: Judge strikes down latest $100,000 H-1B fee (background: 1 Oct) (1 Oct 2026) https://www.forbes.com/sites/stuartanderson/2026/10/01/judge-strikes-down-latest-version-of-100000-h-1b-immigration-fee/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page is labelled analysis and contains no investment advice. Implication one: cheap small models make tiered architectures the default, but measure per completed task, because the 100K-token price step and extra tokens can erase the savings. Implication two: this window's security news says agent isolation is now table stakes, and it can be sold as a feature. Implication three: money and policy in India, plus the healthcare pattern of citation-grounded answers, point toward evaluated, auditable agents for regulated sectors. The experiment is deliberately small: fifty real cases, two models, and cost per correct answer as the decision metric.</a:t>
            </a:r>
          </a:p>
          <a:p/>
          <a:p>
            <a:r>
              <a:t>Sources cited on this page:</a:t>
            </a:r>
          </a:p>
          <a:p>
            <a:r>
              <a:t>[1] Anthropic: Introducing Claude Haiku 5.5 (7 Oct 2026) https://www.anthropic.com/claude-haiku-5-5</a:t>
            </a:r>
          </a:p>
          <a:p>
            <a:r>
              <a:t>[2] Claude Platform Docs: Claude Haiku 5.5 model overview (7 Oct 2026) https://platform.claude.com/docs/en/models/haiku-5-5/overview</a:t>
            </a:r>
          </a:p>
          <a:p>
            <a:r>
              <a:t>[13] Neowin: Haiku 5.5: aggressive pricing, far more tokens (Oct 2026) https://www.neowin.net/news/anthropic-launches-claude-haiku-55-with-aggressive-pricing-but-it-consumes-far-more-tokens/</a:t>
            </a:r>
          </a:p>
          <a:p>
            <a:r>
              <a:t>[16] GitHub Changelog: Local sandboxing for GitHub Copilot now GA (7 Oct 2026) https://github.blog/changelog/2026-10-07-local-sandboxing-for-github-copilot-now-generally-available/</a:t>
            </a:r>
          </a:p>
          <a:p>
            <a:r>
              <a:t>[36] BleepingComputer: 32 zero-days on first day of Pwn2Own Ireland (6 Oct 2026) https://www.bleepingcomputer.com/news/security/hackers-exploit-32-zero-days-on-first-day-of-pwn2own-ireland/</a:t>
            </a:r>
          </a:p>
          <a:p>
            <a:r>
              <a:t>[8] BleepingComputer: Hackers exploit critical Atlassian flaw after public PoC (7 Oct 2026) https://www.bleepingcomputer.com/news/security/hackers-exploit-critical-atlassian-flaw-after-public-poc-release/</a:t>
            </a:r>
          </a:p>
          <a:p>
            <a:r>
              <a:t>[63] DealStreetAsia: Desible.ai, byteXL and others raise funding (7 Oct 2026) https://www.dealstreetasia.com/stories/desible-ai-sunfox-tech-bytexl-zomint-497476</a:t>
            </a:r>
          </a:p>
          <a:p>
            <a:r>
              <a:t>[51] Business Standard: India must be part of AI safety regulation talks: IndiaAI COO (7 Oct 2026) https://www.business-standard.com/amp/technology/artificial-intelligence/india-must-be-part-of-ai-safety-regulation-talks-says-indiaai-mission-coo-126100700856_1.html</a:t>
            </a:r>
          </a:p>
          <a:p>
            <a:r>
              <a:t>[41] Newsweek: Suki and UpToDate bring AI clinical decision support into workflows (8 Oct 2026) https://www.newsweek.com/pro/health-care/exclusive-suki-uptodate-bring-ai-clinical-decision-support-into-workflows-access-health-12538911</a:t>
            </a:r>
          </a:p>
          <a:p>
            <a:r>
              <a:t>[11] Claude Platform Docs: What's new in Claude Haiku 5.5 (7 Oct 2026) https://platform.claude.com/docs/en/models/haiku-5-5/whats-new-haiku-5-5</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with dates. TCS reports tonight after market hours, and Python 3.15.0 ships tomorrow alongside Google's Gemini app tier changes. TSMC's Q3 call and Tech Mahindra's results are on 15 October, the JDK patch update is on 20 October, and on 29 October Samsung reports full results and Google retires gemini-3.1-flash-image. Open questions: whether Haiku 5.5's savings hold up on cost per task, whether Broadcom's OpenAI financing closes, and when NextMR was actually cleared. The three takeaways are cheap tokens, mandatory sandboxes, and healthcare AI money flowing to data and labs before clinical proof.</a:t>
            </a:r>
          </a:p>
          <a:p/>
          <a:p>
            <a:r>
              <a:t>Sources cited on this page:</a:t>
            </a:r>
          </a:p>
          <a:p>
            <a:r>
              <a:t>[22] TCS (exchange filing): Board meeting for Q2 FY27 results (Sep 2026) https://www.tcs.com/content/dam/tcs/pdf/discover-tcs/investor-relations/corporate-actions/2026-27/announcement-date-board-meeting-financial-results-q2fy27.pdf</a:t>
            </a:r>
          </a:p>
          <a:p>
            <a:r>
              <a:t>[54] Python.org: Python 3.15.0rc3 release page (2 Oct 2026) https://www.python.org/downloads/release/python-3150rc3/</a:t>
            </a:r>
          </a:p>
          <a:p>
            <a:r>
              <a:t>[25] Technobaboy: Google will limit free access to Gemini models (8 Oct 2026) https://technobaboy.com/2026/10/08/google-will-limit-free-access-to-gemini-models</a:t>
            </a:r>
          </a:p>
          <a:p>
            <a:r>
              <a:t>[20] Focus Taiwan: TSMC posts record quarterly revenue, highest-ever September (8 Oct 2026) https://focustaiwan.tw/business/202610080012</a:t>
            </a:r>
          </a:p>
          <a:p>
            <a:r>
              <a:t>[65] Angel One: Tech Mahindra board to consider Q2 FY27 results on 15 Oct (Oct 2026) https://www.angelone.in/news/stocks/tech-mahindra-share-price-in-focus-board-to-consider-q2fy27-earnings-results-on-october-15-2026</a:t>
            </a:r>
          </a:p>
          <a:p>
            <a:r>
              <a:t>[55] Java.com: Java release schedule (Oct 2026) https://java.com/releases</a:t>
            </a:r>
          </a:p>
          <a:p>
            <a:r>
              <a:t>[4] The Korea Herald: Samsung sees Q3 profit jump 783% to record W107.4tr (8 Oct 2026) https://www.koreaherald.com/article/10896336</a:t>
            </a:r>
          </a:p>
          <a:p>
            <a:r>
              <a:t>[30] Let's Data Science: Google rolls out Nano Banana 2.1 image model (context: 6 Oct) (Oct 2026) https://letsdatascience.com/news/google-rolls-out-nano-banana-21-image-model-c6ac3b89</a:t>
            </a:r>
          </a:p>
          <a:p>
            <a:r>
              <a:t>[13] Neowin: Haiku 5.5: aggressive pricing, far more tokens (Oct 2026) https://www.neowin.net/news/anthropic-launches-claude-haiku-55-with-aggressive-pricing-but-it-consumes-far-more-tokens/</a:t>
            </a:r>
          </a:p>
          <a:p>
            <a:r>
              <a:t>[5] Yahoo Finance (WSJ syndication): Broadcom, Oracle, SpaceX pursue blockbuster AI chip financing (7 Oct 2026) https://finance.yahoo.com/technology/ai/articles/broadcom-oracle-spacex-pursue-blockbuster-215828392.html</a:t>
            </a:r>
          </a:p>
          <a:p>
            <a:r>
              <a:t>[40] AIQiXie (third-party FDA listing): 510(k) K260525 record (accessed 8 Oct 2026) https://www.aiqixie.com/fda/510k/K260525.html</a:t>
            </a:r>
          </a:p>
          <a:p>
            <a:r>
              <a:t>[1] Anthropic: Introducing Claude Haiku 5.5 (7 Oct 2026) https://www.anthropic.com/claude-haiku-5-5</a:t>
            </a:r>
          </a:p>
          <a:p>
            <a:r>
              <a:t>[16] GitHub Changelog: Local sandboxing for GitHub Copilot now GA (7 Oct 2026) https://github.blog/changelog/2026-10-07-local-sandboxing-for-github-copilot-now-generally-available/</a:t>
            </a:r>
          </a:p>
          <a:p>
            <a:r>
              <a:t>[8] BleepingComputer: Hackers exploit critical Atlassian flaw after public PoC (7 Oct 2026) https://www.bleepingcomputer.com/news/security/hackers-exploit-critical-atlassian-flaw-after-public-poc-release/</a:t>
            </a:r>
          </a:p>
          <a:p>
            <a:r>
              <a:t>[6] PR Newswire: Cross-sector collaboration commits nearly $2 billion to AI biology data (7 Oct 2026) https://www.prnewswire.com/news-releases/international-cross-sector-collaboration-commits-nearly-2-billion-to-build-foundational-data-for-ai-models-to-predict-and-treat-disease-302901172.html</a:t>
            </a:r>
          </a:p>
          <a:p>
            <a:r>
              <a:t>[19] Bloomberg: Isomorphic Labs in funding talks for at least $40 billion value (8 Oct 2026) https://www.bloomberg.com/news/articles/2026-10-08/alphabet-s-isomorphic-labs-in-funding-talks-for-at-least-40-billion-value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anthropic.com/claude-haiku-5-5" TargetMode="External"/><Relationship Id="rId3" Type="http://schemas.openxmlformats.org/officeDocument/2006/relationships/hyperlink" Target="https://platform.claude.com/docs/en/models/haiku-5-5/overview" TargetMode="External"/><Relationship Id="rId4" Type="http://schemas.openxmlformats.org/officeDocument/2006/relationships/hyperlink" Target="https://news.samsung.com/global/samsung-electronics-announces-earnings-guidance-for-third-quarter-2026" TargetMode="External"/><Relationship Id="rId5" Type="http://schemas.openxmlformats.org/officeDocument/2006/relationships/hyperlink" Target="https://www.koreaherald.com/article/10896336" TargetMode="External"/><Relationship Id="rId6" Type="http://schemas.openxmlformats.org/officeDocument/2006/relationships/hyperlink" Target="https://finance.yahoo.com/technology/ai/articles/broadcom-oracle-spacex-pursue-blockbuster-215828392.html" TargetMode="External"/><Relationship Id="rId7" Type="http://schemas.openxmlformats.org/officeDocument/2006/relationships/hyperlink" Target="https://www.prnewswire.com/news-releases/international-cross-sector-collaboration-commits-nearly-2-billion-to-build-foundational-data-for-ai-models-to-predict-and-treat-disease-302901172.html" TargetMode="External"/><Relationship Id="rId8" Type="http://schemas.openxmlformats.org/officeDocument/2006/relationships/hyperlink" Target="https://www.financialcontent.com/article/bizwire-2026-10-7-mri2ct-receives-fda-510k-clearance-for-nextmr-enabling-3d-bone-visualization-from-standard-spine-mri" TargetMode="External"/><Relationship Id="rId9"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anthropic.com/claude-haiku-5-5" TargetMode="External"/><Relationship Id="rId3" Type="http://schemas.openxmlformats.org/officeDocument/2006/relationships/hyperlink" Target="https://www.neowin.net/news/anthropic-launches-claude-haiku-55-with-aggressive-pricing-but-it-consumes-far-more-tokens/" TargetMode="External"/><Relationship Id="rId4" Type="http://schemas.openxmlformats.org/officeDocument/2006/relationships/hyperlink" Target="https://platform.claude.com/docs/en/models/haiku-5-5/overview" TargetMode="External"/><Relationship Id="rId5" Type="http://schemas.openxmlformats.org/officeDocument/2006/relationships/hyperlink" Target="https://platform.claude.com/docs/en/models/haiku-5-5/whats-new-haiku-5-5" TargetMode="External"/><Relationship Id="rId6" Type="http://schemas.openxmlformats.org/officeDocument/2006/relationships/hyperlink" Target="https://letsdatascience.com/news/google-rolls-out-nano-banana-21-image-model-c6ac3b89" TargetMode="External"/><Relationship Id="rId7" Type="http://schemas.openxmlformats.org/officeDocument/2006/relationships/hyperlink" Target="https://techcrunch.com/2026/09/28/elevenlabs-new-v4-speech-model-supports-more-expression-control-and-90-languages/" TargetMode="External"/><Relationship Id="rId8" Type="http://schemas.openxmlformats.org/officeDocument/2006/relationships/hyperlink" Target="https://www.ghacks.net/2026/10/08/openai-brings-gpt-6-to-all-chatgpt-users-adding-intelligent-ui-with-interactive-answers/" TargetMode="External"/><Relationship Id="rId9"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zerodayinitiative.com/blog/2026/10/7/pwn2own-ireland-2026-day-two-results" TargetMode="External"/><Relationship Id="rId3" Type="http://schemas.openxmlformats.org/officeDocument/2006/relationships/hyperlink" Target="https://www.bleepingcomputer.com/news/security/hackers-exploit-32-zero-days-on-first-day-of-pwn2own-ireland/" TargetMode="External"/><Relationship Id="rId4" Type="http://schemas.openxmlformats.org/officeDocument/2006/relationships/hyperlink" Target="https://www.bloomberg.com/news/articles/2026-10-06/openai-apologizes-for-australia-hack-pledges-faster-disclosure" TargetMode="External"/><Relationship Id="rId5" Type="http://schemas.openxmlformats.org/officeDocument/2006/relationships/hyperlink" Target="https://www.langchain.com/blog" TargetMode="Externa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financialcontent.com/article/bizwire-2026-10-7-mri2ct-receives-fda-510k-clearance-for-nextmr-enabling-3d-bone-visualization-from-standard-spine-mri" TargetMode="External"/><Relationship Id="rId3" Type="http://schemas.openxmlformats.org/officeDocument/2006/relationships/hyperlink" Target="https://www.auntminnie.com/clinical-news/mri/news/15836912/mri2ct-gets-fda-clearance-for-mribased-spine-imaging-software" TargetMode="External"/><Relationship Id="rId4" Type="http://schemas.openxmlformats.org/officeDocument/2006/relationships/hyperlink" Target="https://www.aiqixie.com/fda/510k/K260525.html" TargetMode="External"/><Relationship Id="rId5" Type="http://schemas.openxmlformats.org/officeDocument/2006/relationships/hyperlink" Target="https://www.newsweek.com/pro/health-care/exclusive-suki-uptodate-bring-ai-clinical-decision-support-into-workflows-access-health-12538911" TargetMode="External"/><Relationship Id="rId6" Type="http://schemas.openxmlformats.org/officeDocument/2006/relationships/hyperlink" Target="https://investors.danaher.com/2026-10-07-Danaher-Accelerates-Life-Sciences-Research-with-New-AI-powered-Autonomous-Lab" TargetMode="External"/><Relationship Id="rId7" Type="http://schemas.openxmlformats.org/officeDocument/2006/relationships/hyperlink" Target="https://finance.yahoo.com/technology/ai/articles/danaher-launching-ai-powered-autonomous-140339646.html" TargetMode="External"/><Relationship Id="rId8" Type="http://schemas.openxmlformats.org/officeDocument/2006/relationships/hyperlink" Target="https://www.prnewswire.com/news-releases/international-cross-sector-collaboration-commits-nearly-2-billion-to-build-foundational-data-for-ai-models-to-predict-and-treat-disease-302901172.html" TargetMode="External"/><Relationship Id="rId9"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anthropic.com/claude-haiku-5-5" TargetMode="External"/><Relationship Id="rId3" Type="http://schemas.openxmlformats.org/officeDocument/2006/relationships/hyperlink" Target="https://www.neowin.net/news/anthropic-launches-claude-haiku-55-with-aggressive-pricing-but-it-consumes-far-more-tokens/" TargetMode="Externa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blog/changelog/2026-10-07-claude-haiku-5-5-in-github-copilot/" TargetMode="External"/><Relationship Id="rId3" Type="http://schemas.openxmlformats.org/officeDocument/2006/relationships/hyperlink" Target="https://github.blog/changelog/2026-10-07-purpose-built-model-for-leaked-secret-detection/" TargetMode="External"/><Relationship Id="rId4" Type="http://schemas.openxmlformats.org/officeDocument/2006/relationships/hyperlink" Target="https://platform.claude.com/docs/en/models/haiku-5-5/whats-new-haiku-5-5" TargetMode="External"/><Relationship Id="rId5" Type="http://schemas.openxmlformats.org/officeDocument/2006/relationships/hyperlink" Target="https://www.python.org/downloads/release/python-3150rc3/" TargetMode="External"/><Relationship Id="rId6" Type="http://schemas.openxmlformats.org/officeDocument/2006/relationships/hyperlink" Target="https://java.com/releases" TargetMode="Externa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news.samsung.com/global/samsung-electronics-announces-earnings-guidance-for-third-quarter-2026" TargetMode="External"/><Relationship Id="rId3" Type="http://schemas.openxmlformats.org/officeDocument/2006/relationships/hyperlink" Target="https://www.koreaherald.com/article/10896336" TargetMode="External"/><Relationship Id="rId4" Type="http://schemas.openxmlformats.org/officeDocument/2006/relationships/hyperlink" Target="https://focustaiwan.tw/business/202610080012" TargetMode="External"/><Relationship Id="rId5" Type="http://schemas.openxmlformats.org/officeDocument/2006/relationships/hyperlink" Target="https://www.cnbc.com/2026/10/08/tsmc-september-sales-hit-another-record-as-ai-boom-rolls-on.html" TargetMode="External"/><Relationship Id="rId6" Type="http://schemas.openxmlformats.org/officeDocument/2006/relationships/hyperlink" Target="https://digitimes.com/news/a20261007PD224/2027-price-ic-design-2026-design.html" TargetMode="External"/><Relationship Id="rId7" Type="http://schemas.openxmlformats.org/officeDocument/2006/relationships/hyperlink" Target="https://www.bloomberg.com/news/articles/2026-10-07/intel-to-keep-working-on-elon-musk-s-terafab-chipmaking-venture" TargetMode="External"/><Relationship Id="rId8" Type="http://schemas.openxmlformats.org/officeDocument/2006/relationships/hyperlink" Target="https://www.bleepingcomputer.com/news/security/hackers-exploit-critical-atlassian-flaw-after-public-poc-release/" TargetMode="External"/><Relationship Id="rId9"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etvbharat.com/en/technology/pm-modi-calls-digital-india-a-push-for-technology-access-5g-6g-take-centre-stage-at-india-mobile-congress-2026-enn26100802035" TargetMode="External"/><Relationship Id="rId3" Type="http://schemas.openxmlformats.org/officeDocument/2006/relationships/hyperlink" Target="https://www.zeebiz.com/india/news-india-mobile-congress-2026-pm-modi-says-india-s-next-phase-of-digital-growth-to-focus-on-6g-ai-chips-403598" TargetMode="External"/><Relationship Id="rId4" Type="http://schemas.openxmlformats.org/officeDocument/2006/relationships/hyperlink" Target="https://www.business-standard.com/amp/technology/artificial-intelligence/india-must-be-part-of-ai-safety-regulation-talks-says-indiaai-mission-coo-126100700856_1.html" TargetMode="External"/><Relationship Id="rId5" Type="http://schemas.openxmlformats.org/officeDocument/2006/relationships/hyperlink" Target="https://www.tcs.com/content/dam/tcs/pdf/discover-tcs/investor-relations/corporate-actions/2026-27/announcement-date-board-meeting-financial-results-q2fy27.pdf" TargetMode="External"/><Relationship Id="rId6" Type="http://schemas.openxmlformats.org/officeDocument/2006/relationships/hyperlink" Target="https://www.kotakneo.com/news/stocks/tcs-q2-results-preview-revenue-profit-margin-deal-wins-ai/" TargetMode="External"/><Relationship Id="rId7" Type="http://schemas.openxmlformats.org/officeDocument/2006/relationships/hyperlink" Target="https://www.dealstreetasia.com/stories/desible-ai-sunfox-tech-bytexl-zomint-497476" TargetMode="External"/><Relationship Id="rId8" Type="http://schemas.openxmlformats.org/officeDocument/2006/relationships/hyperlink" Target="https://www.forbes.com/sites/stuartanderson/2026/10/01/judge-strikes-down-latest-version-of-100000-h-1b-immigration-fee/" TargetMode="External"/><Relationship Id="rId9"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anthropic.com/claude-haiku-5-5" TargetMode="External"/><Relationship Id="rId3" Type="http://schemas.openxmlformats.org/officeDocument/2006/relationships/hyperlink" Target="https://platform.claude.com/docs/en/models/haiku-5-5/overview" TargetMode="External"/><Relationship Id="rId4" Type="http://schemas.openxmlformats.org/officeDocument/2006/relationships/hyperlink" Target="https://www.neowin.net/news/anthropic-launches-claude-haiku-55-with-aggressive-pricing-but-it-consumes-far-more-tokens/" TargetMode="External"/><Relationship Id="rId5" Type="http://schemas.openxmlformats.org/officeDocument/2006/relationships/hyperlink" Target="https://github.blog/changelog/2026-10-07-local-sandboxing-for-github-copilot-now-generally-available/" TargetMode="External"/><Relationship Id="rId6" Type="http://schemas.openxmlformats.org/officeDocument/2006/relationships/hyperlink" Target="https://www.bleepingcomputer.com/news/security/hackers-exploit-32-zero-days-on-first-day-of-pwn2own-ireland/" TargetMode="External"/><Relationship Id="rId7" Type="http://schemas.openxmlformats.org/officeDocument/2006/relationships/hyperlink" Target="https://www.bleepingcomputer.com/news/security/hackers-exploit-critical-atlassian-flaw-after-public-poc-release/" TargetMode="External"/><Relationship Id="rId8" Type="http://schemas.openxmlformats.org/officeDocument/2006/relationships/hyperlink" Target="https://www.dealstreetasia.com/stories/desible-ai-sunfox-tech-bytexl-zomint-497476" TargetMode="External"/><Relationship Id="rId9"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tcs.com/content/dam/tcs/pdf/discover-tcs/investor-relations/corporate-actions/2026-27/announcement-date-board-meeting-financial-results-q2fy27.pdf" TargetMode="External"/><Relationship Id="rId3" Type="http://schemas.openxmlformats.org/officeDocument/2006/relationships/hyperlink" Target="https://www.python.org/downloads/release/python-3150rc3/" TargetMode="External"/><Relationship Id="rId4" Type="http://schemas.openxmlformats.org/officeDocument/2006/relationships/hyperlink" Target="https://technobaboy.com/2026/10/08/google-will-limit-free-access-to-gemini-models" TargetMode="External"/><Relationship Id="rId5" Type="http://schemas.openxmlformats.org/officeDocument/2006/relationships/hyperlink" Target="https://focustaiwan.tw/business/202610080012" TargetMode="External"/><Relationship Id="rId6" Type="http://schemas.openxmlformats.org/officeDocument/2006/relationships/hyperlink" Target="https://www.angelone.in/news/stocks/tech-mahindra-share-price-in-focus-board-to-consider-q2fy27-earnings-results-on-october-15-2026" TargetMode="External"/><Relationship Id="rId7" Type="http://schemas.openxmlformats.org/officeDocument/2006/relationships/hyperlink" Target="https://java.com/releases" TargetMode="External"/><Relationship Id="rId8" Type="http://schemas.openxmlformats.org/officeDocument/2006/relationships/hyperlink" Target="https://www.koreaherald.com/article/10896336" TargetMode="External"/><Relationship Id="rId9"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0F2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nning header"/>
          <p:cNvSpPr txBox="1"/>
          <p:nvPr/>
        </p:nvSpPr>
        <p:spPr>
          <a:xfrm>
            <a:off x="502920" y="292608"/>
            <a:ext cx="11185855" cy="274320"/>
          </a:xfrm>
          <a:prstGeom prst="rect">
            <a:avLst/>
          </a:prstGeom>
          <a:noFill/>
        </p:spPr>
        <p:txBody>
          <a:bodyPr wrap="square" lIns="0" rIns="0" tIns="0" bIns="0" anchor="t">
            <a:spAutoFit/>
          </a:bodyPr>
          <a:lstStyle/>
          <a:p>
            <a:pPr algn="l"/>
            <a:r>
              <a:rPr sz="1200" b="1" i="0">
                <a:solidFill>
                  <a:srgbClr val="FFFFFF"/>
                </a:solidFill>
                <a:latin typeface="Calibri"/>
              </a:rPr>
              <a:t>Rajesh's AI &amp; IT Daily</a:t>
            </a:r>
            <a:r>
              <a:rPr sz="1100" b="1" i="0">
                <a:solidFill>
                  <a:srgbClr val="9FD6D0"/>
                </a:solidFill>
                <a:latin typeface="Calibri"/>
              </a:rPr>
              <a:t>   ·   01  FRONT PAGE</a:t>
            </a:r>
            <a:r>
              <a:rPr sz="1100" b="0" i="0">
                <a:solidFill>
                  <a:srgbClr val="FFFFFF"/>
                </a:solidFill>
                <a:latin typeface="Calibri"/>
              </a:rPr>
              <a:t>   ·   Thursday, 8 October 2026</a:t>
            </a:r>
          </a:p>
        </p:txBody>
      </p:sp>
      <p:sp>
        <p:nvSpPr>
          <p:cNvPr id="4" name="Title"/>
          <p:cNvSpPr txBox="1"/>
          <p:nvPr/>
        </p:nvSpPr>
        <p:spPr>
          <a:xfrm>
            <a:off x="502920" y="713232"/>
            <a:ext cx="11185855" cy="960120"/>
          </a:xfrm>
          <a:prstGeom prst="rect">
            <a:avLst/>
          </a:prstGeom>
          <a:noFill/>
        </p:spPr>
        <p:txBody>
          <a:bodyPr wrap="square" lIns="0" rIns="0" tIns="0" bIns="0" anchor="t">
            <a:spAutoFit/>
          </a:bodyPr>
          <a:lstStyle/>
          <a:p>
            <a:pPr algn="l"/>
            <a:r>
              <a:rPr sz="3400" b="1" i="0">
                <a:solidFill>
                  <a:srgbClr val="FFFFFF"/>
                </a:solidFill>
                <a:latin typeface="Calibri"/>
              </a:rPr>
              <a:t>Cheap agents, costly chips</a:t>
            </a:r>
          </a:p>
        </p:txBody>
      </p:sp>
      <p:sp>
        <p:nvSpPr>
          <p:cNvPr id="5" name="Window"/>
          <p:cNvSpPr txBox="1"/>
          <p:nvPr/>
        </p:nvSpPr>
        <p:spPr>
          <a:xfrm>
            <a:off x="502920" y="1572768"/>
            <a:ext cx="11185855" cy="274320"/>
          </a:xfrm>
          <a:prstGeom prst="rect">
            <a:avLst/>
          </a:prstGeom>
          <a:noFill/>
        </p:spPr>
        <p:txBody>
          <a:bodyPr wrap="square" lIns="0" rIns="0" tIns="0" bIns="0" anchor="t">
            <a:spAutoFit/>
          </a:bodyPr>
          <a:lstStyle/>
          <a:p>
            <a:pPr algn="l"/>
            <a:r>
              <a:rPr sz="1200" b="0" i="1">
                <a:solidFill>
                  <a:srgbClr val="CFE3E0"/>
                </a:solidFill>
                <a:latin typeface="Calibri"/>
              </a:rPr>
              <a:t>Coverage window: 7 Oct 2026, 15:17 IST to 8 Oct 2026, 15:17 IST (Asia/Kolkata)</a:t>
            </a:r>
          </a:p>
        </p:txBody>
      </p:sp>
      <p:sp>
        <p:nvSpPr>
          <p:cNvPr id="6" name="Takeaways"/>
          <p:cNvSpPr txBox="1"/>
          <p:nvPr/>
        </p:nvSpPr>
        <p:spPr>
          <a:xfrm>
            <a:off x="502920" y="1965960"/>
            <a:ext cx="6675120" cy="4160520"/>
          </a:xfrm>
          <a:prstGeom prst="rect">
            <a:avLst/>
          </a:prstGeom>
          <a:noFill/>
        </p:spPr>
        <p:txBody>
          <a:bodyPr wrap="square" lIns="0" rIns="0" tIns="0" bIns="0">
            <a:spAutoFit/>
          </a:bodyPr>
          <a:lstStyle/>
          <a:p>
            <a:pPr>
              <a:spcAft>
                <a:spcPts val="1000"/>
              </a:spcAft>
            </a:pPr>
            <a:r>
              <a:rPr sz="1600" b="1">
                <a:solidFill>
                  <a:srgbClr val="0F7B5F"/>
                </a:solidFill>
                <a:latin typeface="Calibri"/>
              </a:rPr>
              <a:t>01  </a:t>
            </a:r>
            <a:r>
              <a:rPr sz="1600">
                <a:solidFill>
                  <a:srgbClr val="FFFFFF"/>
                </a:solidFill>
                <a:latin typeface="Calibri"/>
              </a:rPr>
              <a:t>Claude Haiku 5.5 is GA: 1M context, $0.10/$0.50 per M tokens up to 100K-token prompts</a:t>
            </a:r>
          </a:p>
          <a:p>
            <a:pPr>
              <a:spcAft>
                <a:spcPts val="1000"/>
              </a:spcAft>
            </a:pPr>
            <a:r>
              <a:rPr sz="1600" b="1">
                <a:solidFill>
                  <a:srgbClr val="0F7B5F"/>
                </a:solidFill>
                <a:latin typeface="Calibri"/>
              </a:rPr>
              <a:t>02  </a:t>
            </a:r>
            <a:r>
              <a:rPr sz="1600">
                <a:solidFill>
                  <a:srgbClr val="FFFFFF"/>
                </a:solidFill>
                <a:latin typeface="Calibri"/>
              </a:rPr>
              <a:t>Samsung (~₩107.4tn) and TSMC (NT$511.86bn September revenue) confirm AI hardware demand</a:t>
            </a:r>
          </a:p>
          <a:p>
            <a:pPr>
              <a:spcAft>
                <a:spcPts val="1000"/>
              </a:spcAft>
            </a:pPr>
            <a:r>
              <a:rPr sz="1600" b="1">
                <a:solidFill>
                  <a:srgbClr val="0F7B5F"/>
                </a:solidFill>
                <a:latin typeface="Calibri"/>
              </a:rPr>
              <a:t>03  </a:t>
            </a:r>
            <a:r>
              <a:rPr sz="1600">
                <a:solidFill>
                  <a:srgbClr val="FFFFFF"/>
                </a:solidFill>
                <a:latin typeface="Calibri"/>
              </a:rPr>
              <a:t>WSJ: Broadcom seeks $50bn+ in private credit for OpenAI chips; talks, not a deal</a:t>
            </a:r>
          </a:p>
          <a:p>
            <a:pPr>
              <a:spcAft>
                <a:spcPts val="1000"/>
              </a:spcAft>
            </a:pPr>
            <a:r>
              <a:rPr sz="1600" b="1">
                <a:solidFill>
                  <a:srgbClr val="0F7B5F"/>
                </a:solidFill>
                <a:latin typeface="Calibri"/>
              </a:rPr>
              <a:t>04  </a:t>
            </a:r>
            <a:r>
              <a:rPr sz="1600">
                <a:solidFill>
                  <a:srgbClr val="FFFFFF"/>
                </a:solidFill>
                <a:latin typeface="Calibri"/>
              </a:rPr>
              <a:t>Healthcare AI: open biology data and an FDA-cleared imaging tool, no clinical-outcome news</a:t>
            </a:r>
          </a:p>
          <a:p>
            <a:pPr>
              <a:spcAft>
                <a:spcPts val="1000"/>
              </a:spcAft>
            </a:pPr>
            <a:r>
              <a:rPr sz="1600" b="1">
                <a:solidFill>
                  <a:srgbClr val="0F7B5F"/>
                </a:solidFill>
                <a:latin typeface="Calibri"/>
              </a:rPr>
              <a:t>05  </a:t>
            </a:r>
            <a:r>
              <a:rPr sz="1600">
                <a:solidFill>
                  <a:srgbClr val="FFFFFF"/>
                </a:solidFill>
                <a:latin typeface="Calibri"/>
              </a:rPr>
              <a:t>Patch now: Atlassian Data Center CVE-2026-21589 is under active exploitation</a:t>
            </a:r>
          </a:p>
        </p:txBody>
      </p:sp>
      <p:sp>
        <p:nvSpPr>
          <p:cNvPr id="7" name="Panel"/>
          <p:cNvSpPr/>
          <p:nvPr/>
        </p:nvSpPr>
        <p:spPr>
          <a:xfrm>
            <a:off x="7543800" y="1828800"/>
            <a:ext cx="4144975" cy="416052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818120" y="2057400"/>
            <a:ext cx="3596335" cy="274320"/>
          </a:xfrm>
          <a:prstGeom prst="rect">
            <a:avLst/>
          </a:prstGeom>
          <a:noFill/>
        </p:spPr>
        <p:txBody>
          <a:bodyPr wrap="square" lIns="0" rIns="0" tIns="0" bIns="0" anchor="t">
            <a:spAutoFit/>
          </a:bodyPr>
          <a:lstStyle/>
          <a:p>
            <a:pPr algn="l"/>
            <a:r>
              <a:rPr sz="1100" b="1" i="0">
                <a:solidFill>
                  <a:srgbClr val="0F7B5F"/>
                </a:solidFill>
                <a:latin typeface="Calibri"/>
              </a:rPr>
              <a:t>TOP FIVE</a:t>
            </a:r>
          </a:p>
        </p:txBody>
      </p:sp>
      <p:sp>
        <p:nvSpPr>
          <p:cNvPr id="9" name="Panel list"/>
          <p:cNvSpPr txBox="1"/>
          <p:nvPr/>
        </p:nvSpPr>
        <p:spPr>
          <a:xfrm>
            <a:off x="7818120" y="2423160"/>
            <a:ext cx="3596335" cy="3337560"/>
          </a:xfrm>
          <a:prstGeom prst="rect">
            <a:avLst/>
          </a:prstGeom>
          <a:noFill/>
        </p:spPr>
        <p:txBody>
          <a:bodyPr wrap="square" lIns="0" rIns="0" tIns="0" bIns="0" anchor="t">
            <a:spAutoFit/>
          </a:bodyPr>
          <a:lstStyle/>
          <a:p>
            <a:pPr algn="l">
              <a:spcAft>
                <a:spcPts val="800"/>
              </a:spcAft>
            </a:pPr>
            <a:r>
              <a:rPr sz="1400" b="1" i="0">
                <a:solidFill>
                  <a:srgbClr val="0F7B5F"/>
                </a:solidFill>
                <a:latin typeface="Calibri"/>
              </a:rPr>
              <a:t>1  </a:t>
            </a:r>
            <a:r>
              <a:rPr sz="1200" b="0" i="0">
                <a:solidFill>
                  <a:srgbClr val="0F2A3D"/>
                </a:solidFill>
                <a:latin typeface="Calibri"/>
              </a:rPr>
              <a:t>Anthropic ships Claude Haiku 5.5: 1M-token context at $0.10/$0.50 per million tokens</a:t>
            </a:r>
          </a:p>
          <a:p>
            <a:pPr algn="l">
              <a:spcAft>
                <a:spcPts val="800"/>
              </a:spcAft>
            </a:pPr>
            <a:r>
              <a:rPr sz="1400" b="1" i="0">
                <a:solidFill>
                  <a:srgbClr val="0F7B5F"/>
                </a:solidFill>
                <a:latin typeface="Calibri"/>
              </a:rPr>
              <a:t>2  </a:t>
            </a:r>
            <a:r>
              <a:rPr sz="1200" b="0" i="0">
                <a:solidFill>
                  <a:srgbClr val="0F2A3D"/>
                </a:solidFill>
                <a:latin typeface="Calibri"/>
              </a:rPr>
              <a:t>Samsung guides to a record ~₩107.4 trillion Q3 operating profit on AI memory demand</a:t>
            </a:r>
          </a:p>
          <a:p>
            <a:pPr algn="l">
              <a:spcAft>
                <a:spcPts val="800"/>
              </a:spcAft>
            </a:pPr>
            <a:r>
              <a:rPr sz="1400" b="1" i="0">
                <a:solidFill>
                  <a:srgbClr val="0F7B5F"/>
                </a:solidFill>
                <a:latin typeface="Calibri"/>
              </a:rPr>
              <a:t>3  </a:t>
            </a:r>
            <a:r>
              <a:rPr sz="1200" b="0" i="0">
                <a:solidFill>
                  <a:srgbClr val="0F2A3D"/>
                </a:solidFill>
                <a:latin typeface="Calibri"/>
              </a:rPr>
              <a:t>WSJ: Broadcom seeks $50bn+ in private credit so OpenAI can buy its custom chips</a:t>
            </a:r>
          </a:p>
          <a:p>
            <a:pPr algn="l">
              <a:spcAft>
                <a:spcPts val="800"/>
              </a:spcAft>
            </a:pPr>
            <a:r>
              <a:rPr sz="1400" b="1" i="0">
                <a:solidFill>
                  <a:srgbClr val="0F7B5F"/>
                </a:solidFill>
                <a:latin typeface="Calibri"/>
              </a:rPr>
              <a:t>4  </a:t>
            </a:r>
            <a:r>
              <a:rPr sz="1200" b="0" i="0">
                <a:solidFill>
                  <a:srgbClr val="0F2A3D"/>
                </a:solidFill>
                <a:latin typeface="Calibri"/>
              </a:rPr>
              <a:t>Healthcare AI: $1.8bn open biology-data pact and an FDA-cleared MRI-to-bone imaging tool</a:t>
            </a:r>
          </a:p>
          <a:p>
            <a:pPr algn="l">
              <a:spcAft>
                <a:spcPts val="800"/>
              </a:spcAft>
            </a:pPr>
            <a:r>
              <a:rPr sz="1400" b="1" i="0">
                <a:solidFill>
                  <a:srgbClr val="0F7B5F"/>
                </a:solidFill>
                <a:latin typeface="Calibri"/>
              </a:rPr>
              <a:t>5  </a:t>
            </a:r>
            <a:r>
              <a:rPr sz="1200" b="0" i="0">
                <a:solidFill>
                  <a:srgbClr val="0F2A3D"/>
                </a:solidFill>
                <a:latin typeface="Calibri"/>
              </a:rPr>
              <a:t>Atlassian Data Center flaw CVE-2026-21589 exploited hours after a public PoC</a:t>
            </a:r>
          </a:p>
        </p:txBody>
      </p:sp>
      <p:sp>
        <p:nvSpPr>
          <p:cNvPr id="10" name="Sources strip"/>
          <p:cNvSpPr/>
          <p:nvPr/>
        </p:nvSpPr>
        <p:spPr>
          <a:xfrm>
            <a:off x="393192" y="6144768"/>
            <a:ext cx="11405311" cy="347472"/>
          </a:xfrm>
          <a:prstGeom prst="roundRect">
            <a:avLst>
              <a:gd name="adj" fmla="val 3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Sources"/>
          <p:cNvSpPr txBox="1"/>
          <p:nvPr/>
        </p:nvSpPr>
        <p:spPr>
          <a:xfrm>
            <a:off x="502920" y="6199632"/>
            <a:ext cx="11185855" cy="274320"/>
          </a:xfrm>
          <a:prstGeom prst="rect">
            <a:avLst/>
          </a:prstGeom>
          <a:noFill/>
        </p:spPr>
        <p:txBody>
          <a:bodyPr wrap="square" lIns="0" rIns="0" tIns="0" bIns="0" anchor="t">
            <a:spAutoFit/>
          </a:bodyPr>
          <a:lstStyle/>
          <a:p>
            <a:pPr algn="l"/>
            <a:r>
              <a:rPr sz="1000" b="1" i="0">
                <a:solidFill>
                  <a:srgbClr val="0F2A3D"/>
                </a:solidFill>
                <a:latin typeface="Calibri"/>
              </a:rPr>
              <a:t>Sources  </a:t>
            </a:r>
            <a:r>
              <a:rPr sz="1000" b="0" i="0">
                <a:solidFill>
                  <a:srgbClr val="0F7B5F"/>
                </a:solidFill>
                <a:latin typeface="Calibri"/>
                <a:hlinkClick r:id="rId2"/>
              </a:rPr>
              <a:t>[1] Anthropic</a:t>
            </a:r>
            <a:r>
              <a:rPr sz="1000" b="0" i="0">
                <a:solidFill>
                  <a:srgbClr val="000000"/>
                </a:solidFill>
                <a:latin typeface="Calibri"/>
              </a:rPr>
              <a:t>   </a:t>
            </a:r>
            <a:r>
              <a:rPr sz="1000" b="0" i="0">
                <a:solidFill>
                  <a:srgbClr val="0F7B5F"/>
                </a:solidFill>
                <a:latin typeface="Calibri"/>
                <a:hlinkClick r:id="rId3"/>
              </a:rPr>
              <a:t>[2] Claude Platform Docs</a:t>
            </a:r>
            <a:r>
              <a:rPr sz="1000" b="0" i="0">
                <a:solidFill>
                  <a:srgbClr val="000000"/>
                </a:solidFill>
                <a:latin typeface="Calibri"/>
              </a:rPr>
              <a:t>   </a:t>
            </a:r>
            <a:r>
              <a:rPr sz="1000" b="0" i="0">
                <a:solidFill>
                  <a:srgbClr val="0F7B5F"/>
                </a:solidFill>
                <a:latin typeface="Calibri"/>
                <a:hlinkClick r:id="rId4"/>
              </a:rPr>
              <a:t>[3] Samsung Newsroom</a:t>
            </a:r>
            <a:r>
              <a:rPr sz="1000" b="0" i="0">
                <a:solidFill>
                  <a:srgbClr val="000000"/>
                </a:solidFill>
                <a:latin typeface="Calibri"/>
              </a:rPr>
              <a:t>   </a:t>
            </a:r>
            <a:r>
              <a:rPr sz="1000" b="0" i="0">
                <a:solidFill>
                  <a:srgbClr val="0F7B5F"/>
                </a:solidFill>
                <a:latin typeface="Calibri"/>
                <a:hlinkClick r:id="rId5"/>
              </a:rPr>
              <a:t>[4] The Korea Herald</a:t>
            </a:r>
            <a:r>
              <a:rPr sz="1000" b="0" i="0">
                <a:solidFill>
                  <a:srgbClr val="000000"/>
                </a:solidFill>
                <a:latin typeface="Calibri"/>
              </a:rPr>
              <a:t>   </a:t>
            </a:r>
            <a:r>
              <a:rPr sz="1000" b="0" i="0">
                <a:solidFill>
                  <a:srgbClr val="0F7B5F"/>
                </a:solidFill>
                <a:latin typeface="Calibri"/>
                <a:hlinkClick r:id="rId6"/>
              </a:rPr>
              <a:t>[5] Yahoo Finance (WSJ syndication)</a:t>
            </a:r>
            <a:r>
              <a:rPr sz="1000" b="0" i="0">
                <a:solidFill>
                  <a:srgbClr val="000000"/>
                </a:solidFill>
                <a:latin typeface="Calibri"/>
              </a:rPr>
              <a:t>   </a:t>
            </a:r>
            <a:r>
              <a:rPr sz="1000" b="0" i="0">
                <a:solidFill>
                  <a:srgbClr val="0F7B5F"/>
                </a:solidFill>
                <a:latin typeface="Calibri"/>
                <a:hlinkClick r:id="rId7"/>
              </a:rPr>
              <a:t>[6] PR Newswire</a:t>
            </a:r>
            <a:r>
              <a:rPr sz="1000" b="0" i="0">
                <a:solidFill>
                  <a:srgbClr val="000000"/>
                </a:solidFill>
                <a:latin typeface="Calibri"/>
              </a:rPr>
              <a:t>   </a:t>
            </a:r>
            <a:r>
              <a:rPr sz="1000" b="0" i="0">
                <a:solidFill>
                  <a:srgbClr val="0F7B5F"/>
                </a:solidFill>
                <a:latin typeface="Calibri"/>
                <a:hlinkClick r:id="rId8"/>
              </a:rPr>
              <a:t>[7] Business Wire via FinancialContent</a:t>
            </a:r>
          </a:p>
        </p:txBody>
      </p:sp>
      <p:sp>
        <p:nvSpPr>
          <p:cNvPr id="12" name="Slide number"/>
          <p:cNvSpPr txBox="1"/>
          <p:nvPr/>
        </p:nvSpPr>
        <p:spPr>
          <a:xfrm>
            <a:off x="10591495" y="6473952"/>
            <a:ext cx="1097280" cy="228600"/>
          </a:xfrm>
          <a:prstGeom prst="rect">
            <a:avLst/>
          </a:prstGeom>
          <a:noFill/>
        </p:spPr>
        <p:txBody>
          <a:bodyPr wrap="square" lIns="0" rIns="0" tIns="0" bIns="0" anchor="t">
            <a:spAutoFit/>
          </a:bodyPr>
          <a:lstStyle/>
          <a:p>
            <a:pPr algn="r"/>
            <a:r>
              <a:rPr sz="1000" b="0" i="0">
                <a:solidFill>
                  <a:srgbClr val="FFFFFF"/>
                </a:solidFill>
                <a:latin typeface="Calibri"/>
              </a:rPr>
              <a:t>1 / 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nning header"/>
          <p:cNvSpPr txBox="1"/>
          <p:nvPr/>
        </p:nvSpPr>
        <p:spPr>
          <a:xfrm>
            <a:off x="502920" y="292608"/>
            <a:ext cx="11185855" cy="274320"/>
          </a:xfrm>
          <a:prstGeom prst="rect">
            <a:avLst/>
          </a:prstGeom>
          <a:noFill/>
        </p:spPr>
        <p:txBody>
          <a:bodyPr wrap="square" lIns="0" rIns="0" tIns="0" bIns="0" anchor="t">
            <a:spAutoFit/>
          </a:bodyPr>
          <a:lstStyle/>
          <a:p>
            <a:pPr algn="l"/>
            <a:r>
              <a:rPr sz="1200" b="1" i="0">
                <a:solidFill>
                  <a:srgbClr val="0F2A3D"/>
                </a:solidFill>
                <a:latin typeface="Calibri"/>
              </a:rPr>
              <a:t>Rajesh's AI &amp; IT Daily</a:t>
            </a:r>
            <a:r>
              <a:rPr sz="1100" b="1" i="0">
                <a:solidFill>
                  <a:srgbClr val="0F7B5F"/>
                </a:solidFill>
                <a:latin typeface="Calibri"/>
              </a:rPr>
              <a:t>   ·   02  MODEL WATCH</a:t>
            </a:r>
            <a:r>
              <a:rPr sz="1100" b="0" i="0">
                <a:solidFill>
                  <a:srgbClr val="16181D"/>
                </a:solidFill>
                <a:latin typeface="Calibri"/>
              </a:rPr>
              <a:t>   ·   Thursday, 8 October 2026</a:t>
            </a:r>
          </a:p>
        </p:txBody>
      </p:sp>
      <p:sp>
        <p:nvSpPr>
          <p:cNvPr id="4" name="Title"/>
          <p:cNvSpPr txBox="1"/>
          <p:nvPr/>
        </p:nvSpPr>
        <p:spPr>
          <a:xfrm>
            <a:off x="502920" y="713232"/>
            <a:ext cx="11185855" cy="960120"/>
          </a:xfrm>
          <a:prstGeom prst="rect">
            <a:avLst/>
          </a:prstGeom>
          <a:noFill/>
        </p:spPr>
        <p:txBody>
          <a:bodyPr wrap="square" lIns="0" rIns="0" tIns="0" bIns="0" anchor="t">
            <a:spAutoFit/>
          </a:bodyPr>
          <a:lstStyle/>
          <a:p>
            <a:pPr algn="l"/>
            <a:r>
              <a:rPr sz="3400" b="1" i="0">
                <a:solidFill>
                  <a:srgbClr val="0F2A3D"/>
                </a:solidFill>
                <a:latin typeface="Calibri"/>
              </a:rPr>
              <a:t>Model watch: one launch that matters</a:t>
            </a:r>
          </a:p>
        </p:txBody>
      </p:sp>
      <p:sp>
        <p:nvSpPr>
          <p:cNvPr id="5" name="Takeaways"/>
          <p:cNvSpPr txBox="1"/>
          <p:nvPr/>
        </p:nvSpPr>
        <p:spPr>
          <a:xfrm>
            <a:off x="502920" y="1965960"/>
            <a:ext cx="6675120" cy="4160520"/>
          </a:xfrm>
          <a:prstGeom prst="rect">
            <a:avLst/>
          </a:prstGeom>
          <a:noFill/>
        </p:spPr>
        <p:txBody>
          <a:bodyPr wrap="square" lIns="0" rIns="0" tIns="0" bIns="0">
            <a:spAutoFit/>
          </a:bodyPr>
          <a:lstStyle/>
          <a:p>
            <a:pPr>
              <a:spcAft>
                <a:spcPts val="1000"/>
              </a:spcAft>
            </a:pPr>
            <a:r>
              <a:rPr sz="1600" b="1">
                <a:solidFill>
                  <a:srgbClr val="0F7B5F"/>
                </a:solidFill>
                <a:latin typeface="Calibri"/>
              </a:rPr>
              <a:t>01  </a:t>
            </a:r>
            <a:r>
              <a:rPr sz="1600">
                <a:solidFill>
                  <a:srgbClr val="16181D"/>
                </a:solidFill>
                <a:latin typeface="Calibri"/>
              </a:rPr>
              <a:t>Haiku 5.5 (GA): 1M context, text+image input; $0.10/$0.50 up to 100K-token prompts</a:t>
            </a:r>
          </a:p>
          <a:p>
            <a:pPr>
              <a:spcAft>
                <a:spcPts val="1000"/>
              </a:spcAft>
            </a:pPr>
            <a:r>
              <a:rPr sz="1600" b="1">
                <a:solidFill>
                  <a:srgbClr val="0F7B5F"/>
                </a:solidFill>
                <a:latin typeface="Calibri"/>
              </a:rPr>
              <a:t>02  </a:t>
            </a:r>
            <a:r>
              <a:rPr sz="1600">
                <a:solidFill>
                  <a:srgbClr val="16181D"/>
                </a:solidFill>
                <a:latin typeface="Calibri"/>
              </a:rPr>
              <a:t>Sonnet 5.5 cache reads halved to $0.10 per M tokens</a:t>
            </a:r>
          </a:p>
          <a:p>
            <a:pPr>
              <a:spcAft>
                <a:spcPts val="1000"/>
              </a:spcAft>
            </a:pPr>
            <a:r>
              <a:rPr sz="1600" b="1">
                <a:solidFill>
                  <a:srgbClr val="0F7B5F"/>
                </a:solidFill>
                <a:latin typeface="Calibri"/>
              </a:rPr>
              <a:t>03  </a:t>
            </a:r>
            <a:r>
              <a:rPr sz="1600">
                <a:solidFill>
                  <a:srgbClr val="16181D"/>
                </a:solidFill>
                <a:latin typeface="Calibri"/>
              </a:rPr>
              <a:t>GPT-6 for all ChatGPT tiers is a product rollout; no API pricing announced</a:t>
            </a:r>
          </a:p>
          <a:p>
            <a:pPr>
              <a:spcAft>
                <a:spcPts val="1000"/>
              </a:spcAft>
            </a:pPr>
            <a:r>
              <a:rPr sz="1600" b="1">
                <a:solidFill>
                  <a:srgbClr val="0F7B5F"/>
                </a:solidFill>
                <a:latin typeface="Calibri"/>
              </a:rPr>
              <a:t>04  </a:t>
            </a:r>
            <a:r>
              <a:rPr sz="1600">
                <a:solidFill>
                  <a:srgbClr val="16181D"/>
                </a:solidFill>
                <a:latin typeface="Calibri"/>
              </a:rPr>
              <a:t>Context: Mistral Large 4 preview (open weights promised) and EmbeddingGemma 2 (Apache 2.0)</a:t>
            </a:r>
          </a:p>
          <a:p>
            <a:pPr>
              <a:spcAft>
                <a:spcPts val="1000"/>
              </a:spcAft>
            </a:pPr>
            <a:r>
              <a:rPr sz="1600" b="1">
                <a:solidFill>
                  <a:srgbClr val="0F7B5F"/>
                </a:solidFill>
                <a:latin typeface="Calibri"/>
              </a:rPr>
              <a:t>05  </a:t>
            </a:r>
            <a:r>
              <a:rPr sz="1600">
                <a:solidFill>
                  <a:srgbClr val="16181D"/>
                </a:solidFill>
                <a:latin typeface="Calibri"/>
              </a:rPr>
              <a:t>Voice/TTS: no verified launch in the window</a:t>
            </a:r>
          </a:p>
        </p:txBody>
      </p:sp>
      <p:sp>
        <p:nvSpPr>
          <p:cNvPr id="6" name="Panel"/>
          <p:cNvSpPr/>
          <p:nvPr/>
        </p:nvSpPr>
        <p:spPr>
          <a:xfrm>
            <a:off x="7543800" y="1828800"/>
            <a:ext cx="4144975" cy="4160520"/>
          </a:xfrm>
          <a:prstGeom prst="roundRect">
            <a:avLst>
              <a:gd name="adj" fmla="val 4000"/>
            </a:avLst>
          </a:prstGeom>
          <a:solidFill>
            <a:srgbClr val="E2F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18120" y="2057400"/>
            <a:ext cx="3596335" cy="274320"/>
          </a:xfrm>
          <a:prstGeom prst="rect">
            <a:avLst/>
          </a:prstGeom>
          <a:noFill/>
        </p:spPr>
        <p:txBody>
          <a:bodyPr wrap="square" lIns="0" rIns="0" tIns="0" bIns="0" anchor="t">
            <a:spAutoFit/>
          </a:bodyPr>
          <a:lstStyle/>
          <a:p>
            <a:pPr algn="l"/>
            <a:r>
              <a:rPr sz="1100" b="1" i="0">
                <a:solidFill>
                  <a:srgbClr val="0F7B5F"/>
                </a:solidFill>
                <a:latin typeface="Calibri"/>
              </a:rPr>
              <a:t>MODEL TRACKER</a:t>
            </a:r>
          </a:p>
        </p:txBody>
      </p:sp>
      <p:graphicFrame>
        <p:nvGraphicFramePr>
          <p:cNvPr id="8" name="Panel table"/>
          <p:cNvGraphicFramePr>
            <a:graphicFrameLocks noGrp="1"/>
          </p:cNvGraphicFramePr>
          <p:nvPr/>
        </p:nvGraphicFramePr>
        <p:xfrm>
          <a:off x="7818120" y="2423160"/>
          <a:ext cx="3596335" cy="1920240"/>
        </p:xfrm>
        <a:graphic>
          <a:graphicData uri="http://schemas.openxmlformats.org/drawingml/2006/table">
            <a:tbl>
              <a:tblPr firstRow="1" bandRow="1">
                <a:tableStyleId>{5C22544A-7EE6-4342-B048-85BDC9FD1C3A}</a:tableStyleId>
              </a:tblPr>
              <a:tblGrid>
                <a:gridCol w="1198778"/>
                <a:gridCol w="1198778"/>
                <a:gridCol w="1198779"/>
              </a:tblGrid>
              <a:tr h="274320">
                <a:tc>
                  <a:txBody>
                    <a:bodyPr/>
                    <a:lstStyle/>
                    <a:p>
                      <a:r>
                        <a:rPr sz="1000" b="1">
                          <a:solidFill>
                            <a:srgbClr val="FFFFFF"/>
                          </a:solidFill>
                          <a:latin typeface="Calibri"/>
                        </a:rPr>
                        <a:t>Model / change</a:t>
                      </a:r>
                    </a:p>
                  </a:txBody>
                  <a:tcPr>
                    <a:solidFill>
                      <a:srgbClr val="0F2A3D"/>
                    </a:solidFill>
                  </a:tcPr>
                </a:tc>
                <a:tc>
                  <a:txBody>
                    <a:bodyPr/>
                    <a:lstStyle/>
                    <a:p>
                      <a:r>
                        <a:rPr sz="1000" b="1">
                          <a:solidFill>
                            <a:srgbClr val="FFFFFF"/>
                          </a:solidFill>
                          <a:latin typeface="Calibri"/>
                        </a:rPr>
                        <a:t>Category</a:t>
                      </a:r>
                    </a:p>
                  </a:txBody>
                  <a:tcPr>
                    <a:solidFill>
                      <a:srgbClr val="0F2A3D"/>
                    </a:solidFill>
                  </a:tcPr>
                </a:tc>
                <a:tc>
                  <a:txBody>
                    <a:bodyPr/>
                    <a:lstStyle/>
                    <a:p>
                      <a:r>
                        <a:rPr sz="1000" b="1">
                          <a:solidFill>
                            <a:srgbClr val="FFFFFF"/>
                          </a:solidFill>
                          <a:latin typeface="Calibri"/>
                        </a:rPr>
                        <a:t>Date &amp; status</a:t>
                      </a:r>
                    </a:p>
                  </a:txBody>
                  <a:tcPr>
                    <a:solidFill>
                      <a:srgbClr val="0F2A3D"/>
                    </a:solidFill>
                  </a:tcPr>
                </a:tc>
              </a:tr>
              <a:tr h="274320">
                <a:tc>
                  <a:txBody>
                    <a:bodyPr/>
                    <a:lstStyle/>
                    <a:p>
                      <a:r>
                        <a:rPr sz="1000" b="1">
                          <a:solidFill>
                            <a:srgbClr val="0F2A3D"/>
                          </a:solidFill>
                          <a:latin typeface="Calibri"/>
                        </a:rPr>
                        <a:t>Claude Haiku 5.5</a:t>
                      </a:r>
                    </a:p>
                  </a:txBody>
                  <a:tcPr>
                    <a:solidFill>
                      <a:srgbClr val="FFFFFF"/>
                    </a:solidFill>
                  </a:tcPr>
                </a:tc>
                <a:tc>
                  <a:txBody>
                    <a:bodyPr/>
                    <a:lstStyle/>
                    <a:p>
                      <a:r>
                        <a:rPr sz="1000" b="0">
                          <a:solidFill>
                            <a:srgbClr val="16181D"/>
                          </a:solidFill>
                          <a:latin typeface="Calibri"/>
                        </a:rPr>
                        <a:t>Small model · coding · agents</a:t>
                      </a:r>
                    </a:p>
                  </a:txBody>
                  <a:tcPr>
                    <a:solidFill>
                      <a:srgbClr val="FFFFFF"/>
                    </a:solidFill>
                  </a:tcPr>
                </a:tc>
                <a:tc>
                  <a:txBody>
                    <a:bodyPr/>
                    <a:lstStyle/>
                    <a:p>
                      <a:r>
                        <a:rPr sz="1000" b="0">
                          <a:solidFill>
                            <a:srgbClr val="16181D"/>
                          </a:solidFill>
                          <a:latin typeface="Calibri"/>
                        </a:rPr>
                        <a:t>7 Oct · GA</a:t>
                      </a:r>
                    </a:p>
                  </a:txBody>
                  <a:tcPr>
                    <a:solidFill>
                      <a:srgbClr val="FFFFFF"/>
                    </a:solidFill>
                  </a:tcPr>
                </a:tc>
              </a:tr>
              <a:tr h="274320">
                <a:tc>
                  <a:txBody>
                    <a:bodyPr/>
                    <a:lstStyle/>
                    <a:p>
                      <a:r>
                        <a:rPr sz="1000" b="1">
                          <a:solidFill>
                            <a:srgbClr val="0F2A3D"/>
                          </a:solidFill>
                          <a:latin typeface="Calibri"/>
                        </a:rPr>
                        <a:t>Claude Sonnet 5.5</a:t>
                      </a:r>
                    </a:p>
                  </a:txBody>
                  <a:tcPr>
                    <a:solidFill>
                      <a:srgbClr val="F1F6F4"/>
                    </a:solidFill>
                  </a:tcPr>
                </a:tc>
                <a:tc>
                  <a:txBody>
                    <a:bodyPr/>
                    <a:lstStyle/>
                    <a:p>
                      <a:r>
                        <a:rPr sz="1000" b="0">
                          <a:solidFill>
                            <a:srgbClr val="16181D"/>
                          </a:solidFill>
                          <a:latin typeface="Calibri"/>
                        </a:rPr>
                        <a:t>Pricing change</a:t>
                      </a:r>
                    </a:p>
                  </a:txBody>
                  <a:tcPr>
                    <a:solidFill>
                      <a:srgbClr val="F1F6F4"/>
                    </a:solidFill>
                  </a:tcPr>
                </a:tc>
                <a:tc>
                  <a:txBody>
                    <a:bodyPr/>
                    <a:lstStyle/>
                    <a:p>
                      <a:r>
                        <a:rPr sz="1000" b="0">
                          <a:solidFill>
                            <a:srgbClr val="16181D"/>
                          </a:solidFill>
                          <a:latin typeface="Calibri"/>
                        </a:rPr>
                        <a:t>7 Oct · GA</a:t>
                      </a:r>
                    </a:p>
                  </a:txBody>
                  <a:tcPr>
                    <a:solidFill>
                      <a:srgbClr val="F1F6F4"/>
                    </a:solidFill>
                  </a:tcPr>
                </a:tc>
              </a:tr>
              <a:tr h="274320">
                <a:tc>
                  <a:txBody>
                    <a:bodyPr/>
                    <a:lstStyle/>
                    <a:p>
                      <a:r>
                        <a:rPr sz="1000" b="1">
                          <a:solidFill>
                            <a:srgbClr val="0F2A3D"/>
                          </a:solidFill>
                          <a:latin typeface="Calibri"/>
                        </a:rPr>
                        <a:t>GPT-6 in ChatGPT (Sol / Luna)</a:t>
                      </a:r>
                    </a:p>
                  </a:txBody>
                  <a:tcPr>
                    <a:solidFill>
                      <a:srgbClr val="FFFFFF"/>
                    </a:solidFill>
                  </a:tcPr>
                </a:tc>
                <a:tc>
                  <a:txBody>
                    <a:bodyPr/>
                    <a:lstStyle/>
                    <a:p>
                      <a:r>
                        <a:rPr sz="1000" b="0">
                          <a:solidFill>
                            <a:srgbClr val="16181D"/>
                          </a:solidFill>
                          <a:latin typeface="Calibri"/>
                        </a:rPr>
                        <a:t>Reasoning · consumer</a:t>
                      </a:r>
                    </a:p>
                  </a:txBody>
                  <a:tcPr>
                    <a:solidFill>
                      <a:srgbClr val="FFFFFF"/>
                    </a:solidFill>
                  </a:tcPr>
                </a:tc>
                <a:tc>
                  <a:txBody>
                    <a:bodyPr/>
                    <a:lstStyle/>
                    <a:p>
                      <a:r>
                        <a:rPr sz="1000" b="0">
                          <a:solidFill>
                            <a:srgbClr val="16181D"/>
                          </a:solidFill>
                          <a:latin typeface="Calibri"/>
                        </a:rPr>
                        <a:t>7–8 Oct · rolling out</a:t>
                      </a:r>
                    </a:p>
                  </a:txBody>
                  <a:tcPr>
                    <a:solidFill>
                      <a:srgbClr val="FFFFFF"/>
                    </a:solidFill>
                  </a:tcPr>
                </a:tc>
              </a:tr>
              <a:tr h="274320">
                <a:tc>
                  <a:txBody>
                    <a:bodyPr/>
                    <a:lstStyle/>
                    <a:p>
                      <a:r>
                        <a:rPr sz="1000" b="1">
                          <a:solidFill>
                            <a:srgbClr val="0F2A3D"/>
                          </a:solidFill>
                          <a:latin typeface="Calibri"/>
                        </a:rPr>
                        <a:t>Gemini app tiers</a:t>
                      </a:r>
                    </a:p>
                  </a:txBody>
                  <a:tcPr>
                    <a:solidFill>
                      <a:srgbClr val="F1F6F4"/>
                    </a:solidFill>
                  </a:tcPr>
                </a:tc>
                <a:tc>
                  <a:txBody>
                    <a:bodyPr/>
                    <a:lstStyle/>
                    <a:p>
                      <a:r>
                        <a:rPr sz="1000" b="0">
                          <a:solidFill>
                            <a:srgbClr val="16181D"/>
                          </a:solidFill>
                          <a:latin typeface="Calibri"/>
                        </a:rPr>
                        <a:t>Access change</a:t>
                      </a:r>
                    </a:p>
                  </a:txBody>
                  <a:tcPr>
                    <a:solidFill>
                      <a:srgbClr val="F1F6F4"/>
                    </a:solidFill>
                  </a:tcPr>
                </a:tc>
                <a:tc>
                  <a:txBody>
                    <a:bodyPr/>
                    <a:lstStyle/>
                    <a:p>
                      <a:r>
                        <a:rPr sz="1000" b="0">
                          <a:solidFill>
                            <a:srgbClr val="16181D"/>
                          </a:solidFill>
                          <a:latin typeface="Calibri"/>
                        </a:rPr>
                        <a:t>Effective 9 Oct</a:t>
                      </a:r>
                    </a:p>
                  </a:txBody>
                  <a:tcPr>
                    <a:solidFill>
                      <a:srgbClr val="F1F6F4"/>
                    </a:solidFill>
                  </a:tcPr>
                </a:tc>
              </a:tr>
              <a:tr h="274320">
                <a:tc>
                  <a:txBody>
                    <a:bodyPr/>
                    <a:lstStyle/>
                    <a:p>
                      <a:r>
                        <a:rPr sz="1000" b="1">
                          <a:solidFill>
                            <a:srgbClr val="0F2A3D"/>
                          </a:solidFill>
                          <a:latin typeface="Calibri"/>
                        </a:rPr>
                        <a:t>GLM 5.3 Fast</a:t>
                      </a:r>
                    </a:p>
                  </a:txBody>
                  <a:tcPr>
                    <a:solidFill>
                      <a:srgbClr val="FFFFFF"/>
                    </a:solidFill>
                  </a:tcPr>
                </a:tc>
                <a:tc>
                  <a:txBody>
                    <a:bodyPr/>
                    <a:lstStyle/>
                    <a:p>
                      <a:r>
                        <a:rPr sz="1000" b="0">
                          <a:solidFill>
                            <a:srgbClr val="16181D"/>
                          </a:solidFill>
                          <a:latin typeface="Calibri"/>
                        </a:rPr>
                        <a:t>Reasoning · speed</a:t>
                      </a:r>
                    </a:p>
                  </a:txBody>
                  <a:tcPr>
                    <a:solidFill>
                      <a:srgbClr val="FFFFFF"/>
                    </a:solidFill>
                  </a:tcPr>
                </a:tc>
                <a:tc>
                  <a:txBody>
                    <a:bodyPr/>
                    <a:lstStyle/>
                    <a:p>
                      <a:r>
                        <a:rPr sz="1000" b="0">
                          <a:solidFill>
                            <a:srgbClr val="16181D"/>
                          </a:solidFill>
                          <a:latin typeface="Calibri"/>
                        </a:rPr>
                        <a:t>Listed ~7 Oct · unverified</a:t>
                      </a:r>
                    </a:p>
                  </a:txBody>
                  <a:tcPr>
                    <a:solidFill>
                      <a:srgbClr val="FFFFFF"/>
                    </a:solidFill>
                  </a:tcPr>
                </a:tc>
              </a:tr>
              <a:tr h="274320">
                <a:tc>
                  <a:txBody>
                    <a:bodyPr/>
                    <a:lstStyle/>
                    <a:p>
                      <a:r>
                        <a:rPr sz="1000" b="1">
                          <a:solidFill>
                            <a:srgbClr val="0F2A3D"/>
                          </a:solidFill>
                          <a:latin typeface="Calibri"/>
                        </a:rPr>
                        <a:t>Context: Mistral Large 4</a:t>
                      </a:r>
                    </a:p>
                  </a:txBody>
                  <a:tcPr>
                    <a:solidFill>
                      <a:srgbClr val="F1F6F4"/>
                    </a:solidFill>
                  </a:tcPr>
                </a:tc>
                <a:tc>
                  <a:txBody>
                    <a:bodyPr/>
                    <a:lstStyle/>
                    <a:p>
                      <a:r>
                        <a:rPr sz="1000" b="0">
                          <a:solidFill>
                            <a:srgbClr val="16181D"/>
                          </a:solidFill>
                          <a:latin typeface="Calibri"/>
                        </a:rPr>
                        <a:t>Open-weight (promised) · multimodal</a:t>
                      </a:r>
                    </a:p>
                  </a:txBody>
                  <a:tcPr>
                    <a:solidFill>
                      <a:srgbClr val="F1F6F4"/>
                    </a:solidFill>
                  </a:tcPr>
                </a:tc>
                <a:tc>
                  <a:txBody>
                    <a:bodyPr/>
                    <a:lstStyle/>
                    <a:p>
                      <a:r>
                        <a:rPr sz="1000" b="0">
                          <a:solidFill>
                            <a:srgbClr val="16181D"/>
                          </a:solidFill>
                          <a:latin typeface="Calibri"/>
                        </a:rPr>
                        <a:t>6 Oct · preview</a:t>
                      </a:r>
                    </a:p>
                  </a:txBody>
                  <a:tcPr>
                    <a:solidFill>
                      <a:srgbClr val="F1F6F4"/>
                    </a:solidFill>
                  </a:tcPr>
                </a:tc>
              </a:tr>
            </a:tbl>
          </a:graphicData>
        </a:graphic>
      </p:graphicFrame>
      <p:sp>
        <p:nvSpPr>
          <p:cNvPr id="9" name="Sources"/>
          <p:cNvSpPr txBox="1"/>
          <p:nvPr/>
        </p:nvSpPr>
        <p:spPr>
          <a:xfrm>
            <a:off x="502920" y="6199632"/>
            <a:ext cx="11185855" cy="274320"/>
          </a:xfrm>
          <a:prstGeom prst="rect">
            <a:avLst/>
          </a:prstGeom>
          <a:noFill/>
        </p:spPr>
        <p:txBody>
          <a:bodyPr wrap="square" lIns="0" rIns="0" tIns="0" bIns="0" anchor="t">
            <a:spAutoFit/>
          </a:bodyPr>
          <a:lstStyle/>
          <a:p>
            <a:pPr algn="l"/>
            <a:r>
              <a:rPr sz="1000" b="1" i="0">
                <a:solidFill>
                  <a:srgbClr val="0F2A3D"/>
                </a:solidFill>
                <a:latin typeface="Calibri"/>
              </a:rPr>
              <a:t>Sources  </a:t>
            </a:r>
            <a:r>
              <a:rPr sz="1000" b="0" i="0">
                <a:solidFill>
                  <a:srgbClr val="0F7B5F"/>
                </a:solidFill>
                <a:latin typeface="Calibri"/>
                <a:hlinkClick r:id="rId2"/>
              </a:rPr>
              <a:t>[1] Anthropic</a:t>
            </a:r>
            <a:r>
              <a:rPr sz="1000" b="0" i="0">
                <a:solidFill>
                  <a:srgbClr val="000000"/>
                </a:solidFill>
                <a:latin typeface="Calibri"/>
              </a:rPr>
              <a:t>   </a:t>
            </a:r>
            <a:r>
              <a:rPr sz="1000" b="0" i="0">
                <a:solidFill>
                  <a:srgbClr val="0F7B5F"/>
                </a:solidFill>
                <a:latin typeface="Calibri"/>
                <a:hlinkClick r:id="rId3"/>
              </a:rPr>
              <a:t>[13] Neowin</a:t>
            </a:r>
            <a:r>
              <a:rPr sz="1000" b="0" i="0">
                <a:solidFill>
                  <a:srgbClr val="000000"/>
                </a:solidFill>
                <a:latin typeface="Calibri"/>
              </a:rPr>
              <a:t>   </a:t>
            </a:r>
            <a:r>
              <a:rPr sz="1000" b="0" i="0">
                <a:solidFill>
                  <a:srgbClr val="0F7B5F"/>
                </a:solidFill>
                <a:latin typeface="Calibri"/>
                <a:hlinkClick r:id="rId4"/>
              </a:rPr>
              <a:t>[2] Claude Platform Docs</a:t>
            </a:r>
            <a:r>
              <a:rPr sz="1000" b="0" i="0">
                <a:solidFill>
                  <a:srgbClr val="000000"/>
                </a:solidFill>
                <a:latin typeface="Calibri"/>
              </a:rPr>
              <a:t>   </a:t>
            </a:r>
            <a:r>
              <a:rPr sz="1000" b="0" i="0">
                <a:solidFill>
                  <a:srgbClr val="0F7B5F"/>
                </a:solidFill>
                <a:latin typeface="Calibri"/>
                <a:hlinkClick r:id="rId5"/>
              </a:rPr>
              <a:t>[11] Claude Platform Docs</a:t>
            </a:r>
            <a:r>
              <a:rPr sz="1000" b="0" i="0">
                <a:solidFill>
                  <a:srgbClr val="000000"/>
                </a:solidFill>
                <a:latin typeface="Calibri"/>
              </a:rPr>
              <a:t>   </a:t>
            </a:r>
            <a:r>
              <a:rPr sz="1000" b="0" i="0">
                <a:solidFill>
                  <a:srgbClr val="0F7B5F"/>
                </a:solidFill>
                <a:latin typeface="Calibri"/>
                <a:hlinkClick r:id="rId6"/>
              </a:rPr>
              <a:t>[30] Let's Data Science</a:t>
            </a:r>
            <a:r>
              <a:rPr sz="1000" b="0" i="0">
                <a:solidFill>
                  <a:srgbClr val="000000"/>
                </a:solidFill>
                <a:latin typeface="Calibri"/>
              </a:rPr>
              <a:t>   </a:t>
            </a:r>
            <a:r>
              <a:rPr sz="1000" b="0" i="0">
                <a:solidFill>
                  <a:srgbClr val="0F7B5F"/>
                </a:solidFill>
                <a:latin typeface="Calibri"/>
                <a:hlinkClick r:id="rId7"/>
              </a:rPr>
              <a:t>[31] TechCrunch</a:t>
            </a:r>
            <a:r>
              <a:rPr sz="1000" b="0" i="0">
                <a:solidFill>
                  <a:srgbClr val="000000"/>
                </a:solidFill>
                <a:latin typeface="Calibri"/>
              </a:rPr>
              <a:t>   </a:t>
            </a:r>
            <a:r>
              <a:rPr sz="1000" b="0" i="0">
                <a:solidFill>
                  <a:srgbClr val="0F7B5F"/>
                </a:solidFill>
                <a:latin typeface="Calibri"/>
                <a:hlinkClick r:id="rId8"/>
              </a:rPr>
              <a:t>[15] gHacks</a:t>
            </a:r>
          </a:p>
        </p:txBody>
      </p:sp>
      <p:sp>
        <p:nvSpPr>
          <p:cNvPr id="10" name="Slide number"/>
          <p:cNvSpPr txBox="1"/>
          <p:nvPr/>
        </p:nvSpPr>
        <p:spPr>
          <a:xfrm>
            <a:off x="10591495" y="6473952"/>
            <a:ext cx="1097280" cy="228600"/>
          </a:xfrm>
          <a:prstGeom prst="rect">
            <a:avLst/>
          </a:prstGeom>
          <a:noFill/>
        </p:spPr>
        <p:txBody>
          <a:bodyPr wrap="square" lIns="0" rIns="0" tIns="0" bIns="0" anchor="t">
            <a:spAutoFit/>
          </a:bodyPr>
          <a:lstStyle/>
          <a:p>
            <a:pPr algn="r"/>
            <a:r>
              <a:rPr sz="1000" b="0" i="0">
                <a:solidFill>
                  <a:srgbClr val="16181D"/>
                </a:solidFill>
                <a:latin typeface="Calibri"/>
              </a:rPr>
              <a:t>2 / 10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nning header"/>
          <p:cNvSpPr txBox="1"/>
          <p:nvPr/>
        </p:nvSpPr>
        <p:spPr>
          <a:xfrm>
            <a:off x="502920" y="292608"/>
            <a:ext cx="11185855" cy="274320"/>
          </a:xfrm>
          <a:prstGeom prst="rect">
            <a:avLst/>
          </a:prstGeom>
          <a:noFill/>
        </p:spPr>
        <p:txBody>
          <a:bodyPr wrap="square" lIns="0" rIns="0" tIns="0" bIns="0" anchor="t">
            <a:spAutoFit/>
          </a:bodyPr>
          <a:lstStyle/>
          <a:p>
            <a:pPr algn="l"/>
            <a:r>
              <a:rPr sz="1200" b="1" i="0">
                <a:solidFill>
                  <a:srgbClr val="0F2A3D"/>
                </a:solidFill>
                <a:latin typeface="Calibri"/>
              </a:rPr>
              <a:t>Rajesh's AI &amp; IT Daily</a:t>
            </a:r>
            <a:r>
              <a:rPr sz="1100" b="1" i="0">
                <a:solidFill>
                  <a:srgbClr val="0F7B5F"/>
                </a:solidFill>
                <a:latin typeface="Calibri"/>
              </a:rPr>
              <a:t>   ·   03  AGENTIC AI EVOLUTION</a:t>
            </a:r>
            <a:r>
              <a:rPr sz="1100" b="0" i="0">
                <a:solidFill>
                  <a:srgbClr val="16181D"/>
                </a:solidFill>
                <a:latin typeface="Calibri"/>
              </a:rPr>
              <a:t>   ·   Thursday, 8 October 2026</a:t>
            </a:r>
          </a:p>
        </p:txBody>
      </p:sp>
      <p:sp>
        <p:nvSpPr>
          <p:cNvPr id="4" name="Title"/>
          <p:cNvSpPr txBox="1"/>
          <p:nvPr/>
        </p:nvSpPr>
        <p:spPr>
          <a:xfrm>
            <a:off x="502920" y="713232"/>
            <a:ext cx="11185855" cy="960120"/>
          </a:xfrm>
          <a:prstGeom prst="rect">
            <a:avLst/>
          </a:prstGeom>
          <a:noFill/>
        </p:spPr>
        <p:txBody>
          <a:bodyPr wrap="square" lIns="0" rIns="0" tIns="0" bIns="0" anchor="t">
            <a:spAutoFit/>
          </a:bodyPr>
          <a:lstStyle/>
          <a:p>
            <a:pPr algn="l"/>
            <a:r>
              <a:rPr sz="3400" b="1" i="0">
                <a:solidFill>
                  <a:srgbClr val="0F2A3D"/>
                </a:solidFill>
                <a:latin typeface="Calibri"/>
              </a:rPr>
              <a:t>Agentic AI evolution</a:t>
            </a:r>
          </a:p>
        </p:txBody>
      </p:sp>
      <p:sp>
        <p:nvSpPr>
          <p:cNvPr id="5" name="Takeaways"/>
          <p:cNvSpPr txBox="1"/>
          <p:nvPr/>
        </p:nvSpPr>
        <p:spPr>
          <a:xfrm>
            <a:off x="502920" y="1965960"/>
            <a:ext cx="6675120" cy="4160520"/>
          </a:xfrm>
          <a:prstGeom prst="rect">
            <a:avLst/>
          </a:prstGeom>
          <a:noFill/>
        </p:spPr>
        <p:txBody>
          <a:bodyPr wrap="square" lIns="0" rIns="0" tIns="0" bIns="0">
            <a:spAutoFit/>
          </a:bodyPr>
          <a:lstStyle/>
          <a:p>
            <a:pPr>
              <a:spcAft>
                <a:spcPts val="1000"/>
              </a:spcAft>
            </a:pPr>
            <a:r>
              <a:rPr sz="1600" b="1">
                <a:solidFill>
                  <a:srgbClr val="0F7B5F"/>
                </a:solidFill>
                <a:latin typeface="Calibri"/>
              </a:rPr>
              <a:t>01  </a:t>
            </a:r>
            <a:r>
              <a:rPr sz="1600">
                <a:solidFill>
                  <a:srgbClr val="16181D"/>
                </a:solidFill>
                <a:latin typeface="Calibri"/>
              </a:rPr>
              <a:t>Copilot command sandboxing is GA, but network and Git reportedly stay on by default</a:t>
            </a:r>
          </a:p>
          <a:p>
            <a:pPr>
              <a:spcAft>
                <a:spcPts val="1000"/>
              </a:spcAft>
            </a:pPr>
            <a:r>
              <a:rPr sz="1600" b="1">
                <a:solidFill>
                  <a:srgbClr val="0F7B5F"/>
                </a:solidFill>
                <a:latin typeface="Calibri"/>
              </a:rPr>
              <a:t>02  </a:t>
            </a:r>
            <a:r>
              <a:rPr sz="1600">
                <a:solidFill>
                  <a:srgbClr val="16181D"/>
                </a:solidFill>
                <a:latin typeface="Calibri"/>
              </a:rPr>
              <a:t>Claude Python and TypeScript SDKs add computer and browser use (beta); egress allow-lists cover web tools</a:t>
            </a:r>
          </a:p>
          <a:p>
            <a:pPr>
              <a:spcAft>
                <a:spcPts val="1000"/>
              </a:spcAft>
            </a:pPr>
            <a:r>
              <a:rPr sz="1600" b="1">
                <a:solidFill>
                  <a:srgbClr val="0F7B5F"/>
                </a:solidFill>
                <a:latin typeface="Calibri"/>
              </a:rPr>
              <a:t>03  </a:t>
            </a:r>
            <a:r>
              <a:rPr sz="1600">
                <a:solidFill>
                  <a:srgbClr val="16181D"/>
                </a:solidFill>
                <a:latin typeface="Calibri"/>
              </a:rPr>
              <a:t>Haiku 5.5 makes subagent fan-out about 10x cheaper per token</a:t>
            </a:r>
          </a:p>
          <a:p>
            <a:pPr>
              <a:spcAft>
                <a:spcPts val="1000"/>
              </a:spcAft>
            </a:pPr>
            <a:r>
              <a:rPr sz="1600" b="1">
                <a:solidFill>
                  <a:srgbClr val="0F7B5F"/>
                </a:solidFill>
                <a:latin typeface="Calibri"/>
              </a:rPr>
              <a:t>04  </a:t>
            </a:r>
            <a:r>
              <a:rPr sz="1600">
                <a:solidFill>
                  <a:srgbClr val="16181D"/>
                </a:solidFill>
                <a:latin typeface="Calibri"/>
              </a:rPr>
              <a:t>Context: Personal Agent Protocol (experimental) and Decisions API (beta)</a:t>
            </a:r>
          </a:p>
          <a:p>
            <a:pPr>
              <a:spcAft>
                <a:spcPts val="1000"/>
              </a:spcAft>
            </a:pPr>
            <a:r>
              <a:rPr sz="1600" b="1">
                <a:solidFill>
                  <a:srgbClr val="0F7B5F"/>
                </a:solidFill>
                <a:latin typeface="Calibri"/>
              </a:rPr>
              <a:t>05  </a:t>
            </a:r>
            <a:r>
              <a:rPr sz="1600">
                <a:solidFill>
                  <a:srgbClr val="16181D"/>
                </a:solidFill>
                <a:latin typeface="Calibri"/>
              </a:rPr>
              <a:t>Limits: Pwn2Own exploits of Dynamo, LiteLLM and Codex CLI</a:t>
            </a:r>
          </a:p>
        </p:txBody>
      </p:sp>
      <p:sp>
        <p:nvSpPr>
          <p:cNvPr id="6" name="Panel"/>
          <p:cNvSpPr/>
          <p:nvPr/>
        </p:nvSpPr>
        <p:spPr>
          <a:xfrm>
            <a:off x="7543800" y="1828800"/>
            <a:ext cx="4144975" cy="4160520"/>
          </a:xfrm>
          <a:prstGeom prst="roundRect">
            <a:avLst>
              <a:gd name="adj" fmla="val 4000"/>
            </a:avLst>
          </a:prstGeom>
          <a:solidFill>
            <a:srgbClr val="E2F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18120" y="2057400"/>
            <a:ext cx="3596335" cy="274320"/>
          </a:xfrm>
          <a:prstGeom prst="rect">
            <a:avLst/>
          </a:prstGeom>
          <a:noFill/>
        </p:spPr>
        <p:txBody>
          <a:bodyPr wrap="square" lIns="0" rIns="0" tIns="0" bIns="0" anchor="t">
            <a:spAutoFit/>
          </a:bodyPr>
          <a:lstStyle/>
          <a:p>
            <a:pPr algn="l"/>
            <a:r>
              <a:rPr sz="1100" b="1" i="0">
                <a:solidFill>
                  <a:srgbClr val="0F7B5F"/>
                </a:solidFill>
                <a:latin typeface="Calibri"/>
              </a:rPr>
              <a:t>CAPABILITY TRACKER</a:t>
            </a:r>
          </a:p>
        </p:txBody>
      </p:sp>
      <p:graphicFrame>
        <p:nvGraphicFramePr>
          <p:cNvPr id="8" name="Panel table"/>
          <p:cNvGraphicFramePr>
            <a:graphicFrameLocks noGrp="1"/>
          </p:cNvGraphicFramePr>
          <p:nvPr/>
        </p:nvGraphicFramePr>
        <p:xfrm>
          <a:off x="7818120" y="2423160"/>
          <a:ext cx="3596335" cy="1920240"/>
        </p:xfrm>
        <a:graphic>
          <a:graphicData uri="http://schemas.openxmlformats.org/drawingml/2006/table">
            <a:tbl>
              <a:tblPr firstRow="1" bandRow="1">
                <a:tableStyleId>{5C22544A-7EE6-4342-B048-85BDC9FD1C3A}</a:tableStyleId>
              </a:tblPr>
              <a:tblGrid>
                <a:gridCol w="1198778"/>
                <a:gridCol w="1198778"/>
                <a:gridCol w="1198779"/>
              </a:tblGrid>
              <a:tr h="274320">
                <a:tc>
                  <a:txBody>
                    <a:bodyPr/>
                    <a:lstStyle/>
                    <a:p>
                      <a:r>
                        <a:rPr sz="1000" b="1">
                          <a:solidFill>
                            <a:srgbClr val="FFFFFF"/>
                          </a:solidFill>
                          <a:latin typeface="Calibri"/>
                        </a:rPr>
                        <a:t>Capability</a:t>
                      </a:r>
                    </a:p>
                  </a:txBody>
                  <a:tcPr>
                    <a:solidFill>
                      <a:srgbClr val="0F2A3D"/>
                    </a:solidFill>
                  </a:tcPr>
                </a:tc>
                <a:tc>
                  <a:txBody>
                    <a:bodyPr/>
                    <a:lstStyle/>
                    <a:p>
                      <a:r>
                        <a:rPr sz="1000" b="1">
                          <a:solidFill>
                            <a:srgbClr val="FFFFFF"/>
                          </a:solidFill>
                          <a:latin typeface="Calibri"/>
                        </a:rPr>
                        <a:t>What changed</a:t>
                      </a:r>
                    </a:p>
                  </a:txBody>
                  <a:tcPr>
                    <a:solidFill>
                      <a:srgbClr val="0F2A3D"/>
                    </a:solidFill>
                  </a:tcPr>
                </a:tc>
                <a:tc>
                  <a:txBody>
                    <a:bodyPr/>
                    <a:lstStyle/>
                    <a:p>
                      <a:r>
                        <a:rPr sz="1000" b="1">
                          <a:solidFill>
                            <a:srgbClr val="FFFFFF"/>
                          </a:solidFill>
                          <a:latin typeface="Calibri"/>
                        </a:rPr>
                        <a:t>Maturity</a:t>
                      </a:r>
                    </a:p>
                  </a:txBody>
                  <a:tcPr>
                    <a:solidFill>
                      <a:srgbClr val="0F2A3D"/>
                    </a:solidFill>
                  </a:tcPr>
                </a:tc>
              </a:tr>
              <a:tr h="274320">
                <a:tc>
                  <a:txBody>
                    <a:bodyPr/>
                    <a:lstStyle/>
                    <a:p>
                      <a:r>
                        <a:rPr sz="1000" b="1">
                          <a:solidFill>
                            <a:srgbClr val="0F2A3D"/>
                          </a:solidFill>
                          <a:latin typeface="Calibri"/>
                        </a:rPr>
                        <a:t>Command sandboxing</a:t>
                      </a:r>
                    </a:p>
                  </a:txBody>
                  <a:tcPr>
                    <a:solidFill>
                      <a:srgbClr val="FFFFFF"/>
                    </a:solidFill>
                  </a:tcPr>
                </a:tc>
                <a:tc>
                  <a:txBody>
                    <a:bodyPr/>
                    <a:lstStyle/>
                    <a:p>
                      <a:r>
                        <a:rPr sz="1000" b="0">
                          <a:solidFill>
                            <a:srgbClr val="16181D"/>
                          </a:solidFill>
                          <a:latin typeface="Calibri"/>
                        </a:rPr>
                        <a:t>Copilot CLI, app and VS Code agent commands get policy-bound filesystem, network and credential access</a:t>
                      </a:r>
                    </a:p>
                  </a:txBody>
                  <a:tcPr>
                    <a:solidFill>
                      <a:srgbClr val="FFFFFF"/>
                    </a:solidFill>
                  </a:tcPr>
                </a:tc>
                <a:tc>
                  <a:txBody>
                    <a:bodyPr/>
                    <a:lstStyle/>
                    <a:p>
                      <a:r>
                        <a:rPr sz="1000" b="0">
                          <a:solidFill>
                            <a:srgbClr val="16181D"/>
                          </a:solidFill>
                          <a:latin typeface="Calibri"/>
                        </a:rPr>
                        <a:t>GA</a:t>
                      </a:r>
                    </a:p>
                  </a:txBody>
                  <a:tcPr>
                    <a:solidFill>
                      <a:srgbClr val="FFFFFF"/>
                    </a:solidFill>
                  </a:tcPr>
                </a:tc>
              </a:tr>
              <a:tr h="274320">
                <a:tc>
                  <a:txBody>
                    <a:bodyPr/>
                    <a:lstStyle/>
                    <a:p>
                      <a:r>
                        <a:rPr sz="1000" b="1">
                          <a:solidFill>
                            <a:srgbClr val="0F2A3D"/>
                          </a:solidFill>
                          <a:latin typeface="Calibri"/>
                        </a:rPr>
                        <a:t>Computer and browser use</a:t>
                      </a:r>
                    </a:p>
                  </a:txBody>
                  <a:tcPr>
                    <a:solidFill>
                      <a:srgbClr val="F1F6F4"/>
                    </a:solidFill>
                  </a:tcPr>
                </a:tc>
                <a:tc>
                  <a:txBody>
                    <a:bodyPr/>
                    <a:lstStyle/>
                    <a:p>
                      <a:r>
                        <a:rPr sz="1000" b="0">
                          <a:solidFill>
                            <a:srgbClr val="16181D"/>
                          </a:solidFill>
                          <a:latin typeface="Calibri"/>
                        </a:rPr>
                        <a:t>Claude Python and TypeScript SDKs add support</a:t>
                      </a:r>
                    </a:p>
                  </a:txBody>
                  <a:tcPr>
                    <a:solidFill>
                      <a:srgbClr val="F1F6F4"/>
                    </a:solidFill>
                  </a:tcPr>
                </a:tc>
                <a:tc>
                  <a:txBody>
                    <a:bodyPr/>
                    <a:lstStyle/>
                    <a:p>
                      <a:r>
                        <a:rPr sz="1000" b="0">
                          <a:solidFill>
                            <a:srgbClr val="16181D"/>
                          </a:solidFill>
                          <a:latin typeface="Calibri"/>
                        </a:rPr>
                        <a:t>Beta</a:t>
                      </a:r>
                    </a:p>
                  </a:txBody>
                  <a:tcPr>
                    <a:solidFill>
                      <a:srgbClr val="F1F6F4"/>
                    </a:solidFill>
                  </a:tcPr>
                </a:tc>
              </a:tr>
              <a:tr h="274320">
                <a:tc>
                  <a:txBody>
                    <a:bodyPr/>
                    <a:lstStyle/>
                    <a:p>
                      <a:r>
                        <a:rPr sz="1000" b="1">
                          <a:solidFill>
                            <a:srgbClr val="0F2A3D"/>
                          </a:solidFill>
                          <a:latin typeface="Calibri"/>
                        </a:rPr>
                        <a:t>Web-tool egress control</a:t>
                      </a:r>
                    </a:p>
                  </a:txBody>
                  <a:tcPr>
                    <a:solidFill>
                      <a:srgbClr val="FFFFFF"/>
                    </a:solidFill>
                  </a:tcPr>
                </a:tc>
                <a:tc>
                  <a:txBody>
                    <a:bodyPr/>
                    <a:lstStyle/>
                    <a:p>
                      <a:r>
                        <a:rPr sz="1000" b="0">
                          <a:solidFill>
                            <a:srgbClr val="16181D"/>
                          </a:solidFill>
                          <a:latin typeface="Calibri"/>
                        </a:rPr>
                        <a:t>Managed Agents apply allowed_hosts to web search and fetch</a:t>
                      </a:r>
                    </a:p>
                  </a:txBody>
                  <a:tcPr>
                    <a:solidFill>
                      <a:srgbClr val="FFFFFF"/>
                    </a:solidFill>
                  </a:tcPr>
                </a:tc>
                <a:tc>
                  <a:txBody>
                    <a:bodyPr/>
                    <a:lstStyle/>
                    <a:p>
                      <a:r>
                        <a:rPr sz="1000" b="0">
                          <a:solidFill>
                            <a:srgbClr val="16181D"/>
                          </a:solidFill>
                          <a:latin typeface="Calibri"/>
                        </a:rPr>
                        <a:t>Platform setting</a:t>
                      </a:r>
                    </a:p>
                  </a:txBody>
                  <a:tcPr>
                    <a:solidFill>
                      <a:srgbClr val="FFFFFF"/>
                    </a:solidFill>
                  </a:tcPr>
                </a:tc>
              </a:tr>
              <a:tr h="274320">
                <a:tc>
                  <a:txBody>
                    <a:bodyPr/>
                    <a:lstStyle/>
                    <a:p>
                      <a:r>
                        <a:rPr sz="1000" b="1">
                          <a:solidFill>
                            <a:srgbClr val="0F2A3D"/>
                          </a:solidFill>
                          <a:latin typeface="Calibri"/>
                        </a:rPr>
                        <a:t>Cheap subagents</a:t>
                      </a:r>
                    </a:p>
                  </a:txBody>
                  <a:tcPr>
                    <a:solidFill>
                      <a:srgbClr val="F1F6F4"/>
                    </a:solidFill>
                  </a:tcPr>
                </a:tc>
                <a:tc>
                  <a:txBody>
                    <a:bodyPr/>
                    <a:lstStyle/>
                    <a:p>
                      <a:r>
                        <a:rPr sz="1000" b="0">
                          <a:solidFill>
                            <a:srgbClr val="16181D"/>
                          </a:solidFill>
                          <a:latin typeface="Calibri"/>
                        </a:rPr>
                        <a:t>Haiku 5.5 adds an effort setting at 1/10 the price</a:t>
                      </a:r>
                    </a:p>
                  </a:txBody>
                  <a:tcPr>
                    <a:solidFill>
                      <a:srgbClr val="F1F6F4"/>
                    </a:solidFill>
                  </a:tcPr>
                </a:tc>
                <a:tc>
                  <a:txBody>
                    <a:bodyPr/>
                    <a:lstStyle/>
                    <a:p>
                      <a:r>
                        <a:rPr sz="1000" b="0">
                          <a:solidFill>
                            <a:srgbClr val="16181D"/>
                          </a:solidFill>
                          <a:latin typeface="Calibri"/>
                        </a:rPr>
                        <a:t>GA</a:t>
                      </a:r>
                    </a:p>
                  </a:txBody>
                  <a:tcPr>
                    <a:solidFill>
                      <a:srgbClr val="F1F6F4"/>
                    </a:solidFill>
                  </a:tcPr>
                </a:tc>
              </a:tr>
              <a:tr h="274320">
                <a:tc>
                  <a:txBody>
                    <a:bodyPr/>
                    <a:lstStyle/>
                    <a:p>
                      <a:r>
                        <a:rPr sz="1000" b="1">
                          <a:solidFill>
                            <a:srgbClr val="0F2A3D"/>
                          </a:solidFill>
                          <a:latin typeface="Calibri"/>
                        </a:rPr>
                        <a:t>Agent identity (PAP)</a:t>
                      </a:r>
                    </a:p>
                  </a:txBody>
                  <a:tcPr>
                    <a:solidFill>
                      <a:srgbClr val="FFFFFF"/>
                    </a:solidFill>
                  </a:tcPr>
                </a:tc>
                <a:tc>
                  <a:txBody>
                    <a:bodyPr/>
                    <a:lstStyle/>
                    <a:p>
                      <a:r>
                        <a:rPr sz="1000" b="0">
                          <a:solidFill>
                            <a:srgbClr val="16181D"/>
                          </a:solidFill>
                          <a:latin typeface="Calibri"/>
                        </a:rPr>
                        <a:t>Sierra and Meta propose OAuth-scoped sign-in for personal agents</a:t>
                      </a:r>
                    </a:p>
                  </a:txBody>
                  <a:tcPr>
                    <a:solidFill>
                      <a:srgbClr val="FFFFFF"/>
                    </a:solidFill>
                  </a:tcPr>
                </a:tc>
                <a:tc>
                  <a:txBody>
                    <a:bodyPr/>
                    <a:lstStyle/>
                    <a:p>
                      <a:r>
                        <a:rPr sz="1000" b="0">
                          <a:solidFill>
                            <a:srgbClr val="16181D"/>
                          </a:solidFill>
                          <a:latin typeface="Calibri"/>
                        </a:rPr>
                        <a:t>Experimental · context, 6 Oct</a:t>
                      </a:r>
                    </a:p>
                  </a:txBody>
                  <a:tcPr>
                    <a:solidFill>
                      <a:srgbClr val="FFFFFF"/>
                    </a:solidFill>
                  </a:tcPr>
                </a:tc>
              </a:tr>
              <a:tr h="274320">
                <a:tc>
                  <a:txBody>
                    <a:bodyPr/>
                    <a:lstStyle/>
                    <a:p>
                      <a:r>
                        <a:rPr sz="1000" b="1">
                          <a:solidFill>
                            <a:srgbClr val="0F2A3D"/>
                          </a:solidFill>
                          <a:latin typeface="Calibri"/>
                        </a:rPr>
                        <a:t>Structured decisions</a:t>
                      </a:r>
                    </a:p>
                  </a:txBody>
                  <a:tcPr>
                    <a:solidFill>
                      <a:srgbClr val="F1F6F4"/>
                    </a:solidFill>
                  </a:tcPr>
                </a:tc>
                <a:tc>
                  <a:txBody>
                    <a:bodyPr/>
                    <a:lstStyle/>
                    <a:p>
                      <a:r>
                        <a:rPr sz="1000" b="0">
                          <a:solidFill>
                            <a:srgbClr val="16181D"/>
                          </a:solidFill>
                          <a:latin typeface="Calibri"/>
                        </a:rPr>
                        <a:t>OpenAI Decisions API returns yes/no, choice and score outputs</a:t>
                      </a:r>
                    </a:p>
                  </a:txBody>
                  <a:tcPr>
                    <a:solidFill>
                      <a:srgbClr val="F1F6F4"/>
                    </a:solidFill>
                  </a:tcPr>
                </a:tc>
                <a:tc>
                  <a:txBody>
                    <a:bodyPr/>
                    <a:lstStyle/>
                    <a:p>
                      <a:r>
                        <a:rPr sz="1000" b="0">
                          <a:solidFill>
                            <a:srgbClr val="16181D"/>
                          </a:solidFill>
                          <a:latin typeface="Calibri"/>
                        </a:rPr>
                        <a:t>Public beta · context, 6 Oct</a:t>
                      </a:r>
                    </a:p>
                  </a:txBody>
                  <a:tcPr>
                    <a:solidFill>
                      <a:srgbClr val="F1F6F4"/>
                    </a:solidFill>
                  </a:tcPr>
                </a:tc>
              </a:tr>
            </a:tbl>
          </a:graphicData>
        </a:graphic>
      </p:graphicFrame>
      <p:sp>
        <p:nvSpPr>
          <p:cNvPr id="9" name="Sources"/>
          <p:cNvSpPr txBox="1"/>
          <p:nvPr/>
        </p:nvSpPr>
        <p:spPr>
          <a:xfrm>
            <a:off x="502920" y="6199632"/>
            <a:ext cx="11185855" cy="274320"/>
          </a:xfrm>
          <a:prstGeom prst="rect">
            <a:avLst/>
          </a:prstGeom>
          <a:noFill/>
        </p:spPr>
        <p:txBody>
          <a:bodyPr wrap="square" lIns="0" rIns="0" tIns="0" bIns="0" anchor="t">
            <a:spAutoFit/>
          </a:bodyPr>
          <a:lstStyle/>
          <a:p>
            <a:pPr algn="l"/>
            <a:r>
              <a:rPr sz="1000" b="1" i="0">
                <a:solidFill>
                  <a:srgbClr val="0F2A3D"/>
                </a:solidFill>
                <a:latin typeface="Calibri"/>
              </a:rPr>
              <a:t>Sources  </a:t>
            </a:r>
            <a:r>
              <a:rPr sz="1000" b="0" i="0">
                <a:solidFill>
                  <a:srgbClr val="0F7B5F"/>
                </a:solidFill>
                <a:latin typeface="Calibri"/>
                <a:hlinkClick r:id="rId2"/>
              </a:rPr>
              <a:t>[17] Zero Day Initiative</a:t>
            </a:r>
            <a:r>
              <a:rPr sz="1000" b="0" i="0">
                <a:solidFill>
                  <a:srgbClr val="000000"/>
                </a:solidFill>
                <a:latin typeface="Calibri"/>
              </a:rPr>
              <a:t>   </a:t>
            </a:r>
            <a:r>
              <a:rPr sz="1000" b="0" i="0">
                <a:solidFill>
                  <a:srgbClr val="0F7B5F"/>
                </a:solidFill>
                <a:latin typeface="Calibri"/>
                <a:hlinkClick r:id="rId3"/>
              </a:rPr>
              <a:t>[36] BleepingComputer</a:t>
            </a:r>
            <a:r>
              <a:rPr sz="1000" b="0" i="0">
                <a:solidFill>
                  <a:srgbClr val="000000"/>
                </a:solidFill>
                <a:latin typeface="Calibri"/>
              </a:rPr>
              <a:t>   </a:t>
            </a:r>
            <a:r>
              <a:rPr sz="1000" b="0" i="0">
                <a:solidFill>
                  <a:srgbClr val="0F7B5F"/>
                </a:solidFill>
                <a:latin typeface="Calibri"/>
                <a:hlinkClick r:id="rId4"/>
              </a:rPr>
              <a:t>[37] Bloomberg</a:t>
            </a:r>
            <a:r>
              <a:rPr sz="1000" b="0" i="0">
                <a:solidFill>
                  <a:srgbClr val="000000"/>
                </a:solidFill>
                <a:latin typeface="Calibri"/>
              </a:rPr>
              <a:t>   </a:t>
            </a:r>
            <a:r>
              <a:rPr sz="1000" b="0" i="0">
                <a:solidFill>
                  <a:srgbClr val="0F7B5F"/>
                </a:solidFill>
                <a:latin typeface="Calibri"/>
                <a:hlinkClick r:id="rId5"/>
              </a:rPr>
              <a:t>[38] LangChain</a:t>
            </a:r>
          </a:p>
        </p:txBody>
      </p:sp>
      <p:sp>
        <p:nvSpPr>
          <p:cNvPr id="10" name="Slide number"/>
          <p:cNvSpPr txBox="1"/>
          <p:nvPr/>
        </p:nvSpPr>
        <p:spPr>
          <a:xfrm>
            <a:off x="10591495" y="6473952"/>
            <a:ext cx="1097280" cy="228600"/>
          </a:xfrm>
          <a:prstGeom prst="rect">
            <a:avLst/>
          </a:prstGeom>
          <a:noFill/>
        </p:spPr>
        <p:txBody>
          <a:bodyPr wrap="square" lIns="0" rIns="0" tIns="0" bIns="0" anchor="t">
            <a:spAutoFit/>
          </a:bodyPr>
          <a:lstStyle/>
          <a:p>
            <a:pPr algn="r"/>
            <a:r>
              <a:rPr sz="1000" b="0" i="0">
                <a:solidFill>
                  <a:srgbClr val="16181D"/>
                </a:solidFill>
                <a:latin typeface="Calibri"/>
              </a:rPr>
              <a:t>3 / 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nning header"/>
          <p:cNvSpPr txBox="1"/>
          <p:nvPr/>
        </p:nvSpPr>
        <p:spPr>
          <a:xfrm>
            <a:off x="502920" y="292608"/>
            <a:ext cx="11185855" cy="274320"/>
          </a:xfrm>
          <a:prstGeom prst="rect">
            <a:avLst/>
          </a:prstGeom>
          <a:noFill/>
        </p:spPr>
        <p:txBody>
          <a:bodyPr wrap="square" lIns="0" rIns="0" tIns="0" bIns="0" anchor="t">
            <a:spAutoFit/>
          </a:bodyPr>
          <a:lstStyle/>
          <a:p>
            <a:pPr algn="l"/>
            <a:r>
              <a:rPr sz="1200" b="1" i="0">
                <a:solidFill>
                  <a:srgbClr val="0F2A3D"/>
                </a:solidFill>
                <a:latin typeface="Calibri"/>
              </a:rPr>
              <a:t>Rajesh's AI &amp; IT Daily</a:t>
            </a:r>
            <a:r>
              <a:rPr sz="1100" b="1" i="0">
                <a:solidFill>
                  <a:srgbClr val="0F7B5F"/>
                </a:solidFill>
                <a:latin typeface="Calibri"/>
              </a:rPr>
              <a:t>   ·   04  HEALTHCARE AI</a:t>
            </a:r>
            <a:r>
              <a:rPr sz="1100" b="0" i="0">
                <a:solidFill>
                  <a:srgbClr val="16181D"/>
                </a:solidFill>
                <a:latin typeface="Calibri"/>
              </a:rPr>
              <a:t>   ·   Thursday, 8 October 2026</a:t>
            </a:r>
          </a:p>
        </p:txBody>
      </p:sp>
      <p:sp>
        <p:nvSpPr>
          <p:cNvPr id="4" name="Title"/>
          <p:cNvSpPr txBox="1"/>
          <p:nvPr/>
        </p:nvSpPr>
        <p:spPr>
          <a:xfrm>
            <a:off x="502920" y="713232"/>
            <a:ext cx="11185855" cy="960120"/>
          </a:xfrm>
          <a:prstGeom prst="rect">
            <a:avLst/>
          </a:prstGeom>
          <a:noFill/>
        </p:spPr>
        <p:txBody>
          <a:bodyPr wrap="square" lIns="0" rIns="0" tIns="0" bIns="0" anchor="t">
            <a:spAutoFit/>
          </a:bodyPr>
          <a:lstStyle/>
          <a:p>
            <a:pPr algn="l"/>
            <a:r>
              <a:rPr sz="3400" b="1" i="0">
                <a:solidFill>
                  <a:srgbClr val="0F2A3D"/>
                </a:solidFill>
                <a:latin typeface="Calibri"/>
              </a:rPr>
              <a:t>Healthcare AI</a:t>
            </a:r>
          </a:p>
        </p:txBody>
      </p:sp>
      <p:sp>
        <p:nvSpPr>
          <p:cNvPr id="5" name="Takeaways"/>
          <p:cNvSpPr txBox="1"/>
          <p:nvPr/>
        </p:nvSpPr>
        <p:spPr>
          <a:xfrm>
            <a:off x="502920" y="1965960"/>
            <a:ext cx="6675120" cy="4160520"/>
          </a:xfrm>
          <a:prstGeom prst="rect">
            <a:avLst/>
          </a:prstGeom>
          <a:noFill/>
        </p:spPr>
        <p:txBody>
          <a:bodyPr wrap="square" lIns="0" rIns="0" tIns="0" bIns="0">
            <a:spAutoFit/>
          </a:bodyPr>
          <a:lstStyle/>
          <a:p>
            <a:pPr>
              <a:spcAft>
                <a:spcPts val="1000"/>
              </a:spcAft>
            </a:pPr>
            <a:r>
              <a:rPr sz="1600" b="1">
                <a:solidFill>
                  <a:srgbClr val="0F7B5F"/>
                </a:solidFill>
                <a:latin typeface="Calibri"/>
              </a:rPr>
              <a:t>01  </a:t>
            </a:r>
            <a:r>
              <a:rPr sz="1600">
                <a:solidFill>
                  <a:srgbClr val="16181D"/>
                </a:solidFill>
                <a:latin typeface="Calibri"/>
              </a:rPr>
              <a:t>Deployment: FDA 510(k) for MRI2CT NextMR, validated on 145 retrospective cases</a:t>
            </a:r>
          </a:p>
          <a:p>
            <a:pPr>
              <a:spcAft>
                <a:spcPts val="1000"/>
              </a:spcAft>
            </a:pPr>
            <a:r>
              <a:rPr sz="1600" b="1">
                <a:solidFill>
                  <a:srgbClr val="0F7B5F"/>
                </a:solidFill>
                <a:latin typeface="Calibri"/>
              </a:rPr>
              <a:t>02  </a:t>
            </a:r>
            <a:r>
              <a:rPr sz="1600">
                <a:solidFill>
                  <a:srgbClr val="16181D"/>
                </a:solidFill>
                <a:latin typeface="Calibri"/>
              </a:rPr>
              <a:t>Deployment: Suki 'Ask' adds UpToDate-grounded answers; no outcome data yet</a:t>
            </a:r>
          </a:p>
          <a:p>
            <a:pPr>
              <a:spcAft>
                <a:spcPts val="1000"/>
              </a:spcAft>
            </a:pPr>
            <a:r>
              <a:rPr sz="1600" b="1">
                <a:solidFill>
                  <a:srgbClr val="0F7B5F"/>
                </a:solidFill>
                <a:latin typeface="Calibri"/>
              </a:rPr>
              <a:t>03  </a:t>
            </a:r>
            <a:r>
              <a:rPr sz="1600">
                <a:solidFill>
                  <a:srgbClr val="16181D"/>
                </a:solidFill>
                <a:latin typeface="Calibri"/>
              </a:rPr>
              <a:t>Research: Danaher autonomous antibody lab; speed claims are targets</a:t>
            </a:r>
          </a:p>
          <a:p>
            <a:pPr>
              <a:spcAft>
                <a:spcPts val="1000"/>
              </a:spcAft>
            </a:pPr>
            <a:r>
              <a:rPr sz="1600" b="1">
                <a:solidFill>
                  <a:srgbClr val="0F7B5F"/>
                </a:solidFill>
                <a:latin typeface="Calibri"/>
              </a:rPr>
              <a:t>04  </a:t>
            </a:r>
            <a:r>
              <a:rPr sz="1600">
                <a:solidFill>
                  <a:srgbClr val="16181D"/>
                </a:solidFill>
                <a:latin typeface="Calibri"/>
              </a:rPr>
              <a:t>Research: $1.8bn Virtual Biology Initiative for open cell-perturbation data</a:t>
            </a:r>
          </a:p>
          <a:p>
            <a:pPr>
              <a:spcAft>
                <a:spcPts val="1000"/>
              </a:spcAft>
            </a:pPr>
            <a:r>
              <a:rPr sz="1600" b="1">
                <a:solidFill>
                  <a:srgbClr val="0F7B5F"/>
                </a:solidFill>
                <a:latin typeface="Calibri"/>
              </a:rPr>
              <a:t>05  </a:t>
            </a:r>
            <a:r>
              <a:rPr sz="1600">
                <a:solidFill>
                  <a:srgbClr val="16181D"/>
                </a:solidFill>
                <a:latin typeface="Calibri"/>
              </a:rPr>
              <a:t>No new peer-reviewed clinical outcome study verified in the window</a:t>
            </a:r>
          </a:p>
        </p:txBody>
      </p:sp>
      <p:sp>
        <p:nvSpPr>
          <p:cNvPr id="6" name="Panel"/>
          <p:cNvSpPr/>
          <p:nvPr/>
        </p:nvSpPr>
        <p:spPr>
          <a:xfrm>
            <a:off x="7543800" y="1828800"/>
            <a:ext cx="4144975" cy="4160520"/>
          </a:xfrm>
          <a:prstGeom prst="roundRect">
            <a:avLst>
              <a:gd name="adj" fmla="val 4000"/>
            </a:avLst>
          </a:prstGeom>
          <a:solidFill>
            <a:srgbClr val="E2F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18120" y="2057400"/>
            <a:ext cx="3596335" cy="274320"/>
          </a:xfrm>
          <a:prstGeom prst="rect">
            <a:avLst/>
          </a:prstGeom>
          <a:noFill/>
        </p:spPr>
        <p:txBody>
          <a:bodyPr wrap="square" lIns="0" rIns="0" tIns="0" bIns="0" anchor="t">
            <a:spAutoFit/>
          </a:bodyPr>
          <a:lstStyle/>
          <a:p>
            <a:pPr algn="l"/>
            <a:r>
              <a:rPr sz="1100" b="1" i="0">
                <a:solidFill>
                  <a:srgbClr val="0F7B5F"/>
                </a:solidFill>
                <a:latin typeface="Calibri"/>
              </a:rPr>
              <a:t>IMAGING · REGULATORY</a:t>
            </a:r>
          </a:p>
        </p:txBody>
      </p:sp>
      <p:sp>
        <p:nvSpPr>
          <p:cNvPr id="8" name="TextBox 7"/>
          <p:cNvSpPr txBox="1"/>
          <p:nvPr/>
        </p:nvSpPr>
        <p:spPr>
          <a:xfrm>
            <a:off x="7818120" y="2423160"/>
            <a:ext cx="3596335" cy="1097280"/>
          </a:xfrm>
          <a:prstGeom prst="rect">
            <a:avLst/>
          </a:prstGeom>
          <a:noFill/>
        </p:spPr>
        <p:txBody>
          <a:bodyPr wrap="square" lIns="0" rIns="0" tIns="0" bIns="0" anchor="t">
            <a:spAutoFit/>
          </a:bodyPr>
          <a:lstStyle/>
          <a:p>
            <a:pPr algn="l"/>
            <a:r>
              <a:rPr sz="2000" b="1" i="0">
                <a:solidFill>
                  <a:srgbClr val="0F2A3D"/>
                </a:solidFill>
                <a:latin typeface="Calibri"/>
              </a:rPr>
              <a:t>FDA clears a tool that turns spine MRI into 3D bone images</a:t>
            </a:r>
          </a:p>
        </p:txBody>
      </p:sp>
      <p:sp>
        <p:nvSpPr>
          <p:cNvPr id="9" name="TextBox 8"/>
          <p:cNvSpPr txBox="1"/>
          <p:nvPr/>
        </p:nvSpPr>
        <p:spPr>
          <a:xfrm>
            <a:off x="7818120" y="3611880"/>
            <a:ext cx="3596335" cy="2148840"/>
          </a:xfrm>
          <a:prstGeom prst="rect">
            <a:avLst/>
          </a:prstGeom>
          <a:noFill/>
        </p:spPr>
        <p:txBody>
          <a:bodyPr wrap="square" lIns="0" rIns="0" tIns="0" bIns="0" anchor="t">
            <a:spAutoFit/>
          </a:bodyPr>
          <a:lstStyle/>
          <a:p>
            <a:pPr algn="l"/>
            <a:r>
              <a:rPr sz="1300" b="0" i="0">
                <a:solidFill>
                  <a:srgbClr val="16181D"/>
                </a:solidFill>
                <a:latin typeface="Calibri"/>
              </a:rPr>
              <a:t>Validation used a retrospective dataset of 145 adults with paired MRI and CT scans; the accuracy claims are the company's own. A third-party FDA listing dates the decision to 4 September, so only the announcement may be new .</a:t>
            </a:r>
          </a:p>
        </p:txBody>
      </p:sp>
      <p:sp>
        <p:nvSpPr>
          <p:cNvPr id="10" name="Sources"/>
          <p:cNvSpPr txBox="1"/>
          <p:nvPr/>
        </p:nvSpPr>
        <p:spPr>
          <a:xfrm>
            <a:off x="502920" y="6199632"/>
            <a:ext cx="11185855" cy="274320"/>
          </a:xfrm>
          <a:prstGeom prst="rect">
            <a:avLst/>
          </a:prstGeom>
          <a:noFill/>
        </p:spPr>
        <p:txBody>
          <a:bodyPr wrap="square" lIns="0" rIns="0" tIns="0" bIns="0" anchor="t">
            <a:spAutoFit/>
          </a:bodyPr>
          <a:lstStyle/>
          <a:p>
            <a:pPr algn="l"/>
            <a:r>
              <a:rPr sz="1000" b="1" i="0">
                <a:solidFill>
                  <a:srgbClr val="0F2A3D"/>
                </a:solidFill>
                <a:latin typeface="Calibri"/>
              </a:rPr>
              <a:t>Sources  </a:t>
            </a:r>
            <a:r>
              <a:rPr sz="1000" b="0" i="0">
                <a:solidFill>
                  <a:srgbClr val="0F7B5F"/>
                </a:solidFill>
                <a:latin typeface="Calibri"/>
                <a:hlinkClick r:id="rId2"/>
              </a:rPr>
              <a:t>[7] Business Wire via FinancialContent</a:t>
            </a:r>
            <a:r>
              <a:rPr sz="1000" b="0" i="0">
                <a:solidFill>
                  <a:srgbClr val="000000"/>
                </a:solidFill>
                <a:latin typeface="Calibri"/>
              </a:rPr>
              <a:t>   </a:t>
            </a:r>
            <a:r>
              <a:rPr sz="1000" b="0" i="0">
                <a:solidFill>
                  <a:srgbClr val="0F7B5F"/>
                </a:solidFill>
                <a:latin typeface="Calibri"/>
                <a:hlinkClick r:id="rId3"/>
              </a:rPr>
              <a:t>[39] AuntMinnie</a:t>
            </a:r>
            <a:r>
              <a:rPr sz="1000" b="0" i="0">
                <a:solidFill>
                  <a:srgbClr val="000000"/>
                </a:solidFill>
                <a:latin typeface="Calibri"/>
              </a:rPr>
              <a:t>   </a:t>
            </a:r>
            <a:r>
              <a:rPr sz="1000" b="0" i="0">
                <a:solidFill>
                  <a:srgbClr val="0F7B5F"/>
                </a:solidFill>
                <a:latin typeface="Calibri"/>
                <a:hlinkClick r:id="rId4"/>
              </a:rPr>
              <a:t>[40] AIQiXie (third-party FDA listing)</a:t>
            </a:r>
            <a:r>
              <a:rPr sz="1000" b="0" i="0">
                <a:solidFill>
                  <a:srgbClr val="000000"/>
                </a:solidFill>
                <a:latin typeface="Calibri"/>
              </a:rPr>
              <a:t>   </a:t>
            </a:r>
            <a:r>
              <a:rPr sz="1000" b="0" i="0">
                <a:solidFill>
                  <a:srgbClr val="0F7B5F"/>
                </a:solidFill>
                <a:latin typeface="Calibri"/>
                <a:hlinkClick r:id="rId5"/>
              </a:rPr>
              <a:t>[41] Newsweek</a:t>
            </a:r>
            <a:r>
              <a:rPr sz="1000" b="0" i="0">
                <a:solidFill>
                  <a:srgbClr val="000000"/>
                </a:solidFill>
                <a:latin typeface="Calibri"/>
              </a:rPr>
              <a:t>   </a:t>
            </a:r>
            <a:r>
              <a:rPr sz="1000" b="0" i="0">
                <a:solidFill>
                  <a:srgbClr val="0F7B5F"/>
                </a:solidFill>
                <a:latin typeface="Calibri"/>
                <a:hlinkClick r:id="rId6"/>
              </a:rPr>
              <a:t>[18] Danaher (investor relations)</a:t>
            </a:r>
            <a:r>
              <a:rPr sz="1000" b="0" i="0">
                <a:solidFill>
                  <a:srgbClr val="000000"/>
                </a:solidFill>
                <a:latin typeface="Calibri"/>
              </a:rPr>
              <a:t>   </a:t>
            </a:r>
            <a:r>
              <a:rPr sz="1000" b="0" i="0">
                <a:solidFill>
                  <a:srgbClr val="0F7B5F"/>
                </a:solidFill>
                <a:latin typeface="Calibri"/>
                <a:hlinkClick r:id="rId7"/>
              </a:rPr>
              <a:t>[42] Yahoo Finance</a:t>
            </a:r>
            <a:r>
              <a:rPr sz="1000" b="0" i="0">
                <a:solidFill>
                  <a:srgbClr val="000000"/>
                </a:solidFill>
                <a:latin typeface="Calibri"/>
              </a:rPr>
              <a:t>   </a:t>
            </a:r>
            <a:r>
              <a:rPr sz="1000" b="0" i="0">
                <a:solidFill>
                  <a:srgbClr val="0F7B5F"/>
                </a:solidFill>
                <a:latin typeface="Calibri"/>
                <a:hlinkClick r:id="rId8"/>
              </a:rPr>
              <a:t>[6] PR Newswire</a:t>
            </a:r>
          </a:p>
        </p:txBody>
      </p:sp>
      <p:sp>
        <p:nvSpPr>
          <p:cNvPr id="11" name="Slide number"/>
          <p:cNvSpPr txBox="1"/>
          <p:nvPr/>
        </p:nvSpPr>
        <p:spPr>
          <a:xfrm>
            <a:off x="10591495" y="6473952"/>
            <a:ext cx="1097280" cy="228600"/>
          </a:xfrm>
          <a:prstGeom prst="rect">
            <a:avLst/>
          </a:prstGeom>
          <a:noFill/>
        </p:spPr>
        <p:txBody>
          <a:bodyPr wrap="square" lIns="0" rIns="0" tIns="0" bIns="0" anchor="t">
            <a:spAutoFit/>
          </a:bodyPr>
          <a:lstStyle/>
          <a:p>
            <a:pPr algn="r"/>
            <a:r>
              <a:rPr sz="1000" b="0" i="0">
                <a:solidFill>
                  <a:srgbClr val="16181D"/>
                </a:solidFill>
                <a:latin typeface="Calibri"/>
              </a:rPr>
              <a:t>4 / 10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nning header"/>
          <p:cNvSpPr txBox="1"/>
          <p:nvPr/>
        </p:nvSpPr>
        <p:spPr>
          <a:xfrm>
            <a:off x="502920" y="292608"/>
            <a:ext cx="11185855" cy="274320"/>
          </a:xfrm>
          <a:prstGeom prst="rect">
            <a:avLst/>
          </a:prstGeom>
          <a:noFill/>
        </p:spPr>
        <p:txBody>
          <a:bodyPr wrap="square" lIns="0" rIns="0" tIns="0" bIns="0" anchor="t">
            <a:spAutoFit/>
          </a:bodyPr>
          <a:lstStyle/>
          <a:p>
            <a:pPr algn="l"/>
            <a:r>
              <a:rPr sz="1200" b="1" i="0">
                <a:solidFill>
                  <a:srgbClr val="0F2A3D"/>
                </a:solidFill>
                <a:latin typeface="Calibri"/>
              </a:rPr>
              <a:t>Rajesh's AI &amp; IT Daily</a:t>
            </a:r>
            <a:r>
              <a:rPr sz="1100" b="1" i="0">
                <a:solidFill>
                  <a:srgbClr val="0F7B5F"/>
                </a:solidFill>
                <a:latin typeface="Calibri"/>
              </a:rPr>
              <a:t>   ·   05  VOICES &amp; X POSTS</a:t>
            </a:r>
            <a:r>
              <a:rPr sz="1100" b="0" i="0">
                <a:solidFill>
                  <a:srgbClr val="16181D"/>
                </a:solidFill>
                <a:latin typeface="Calibri"/>
              </a:rPr>
              <a:t>   ·   Thursday, 8 October 2026</a:t>
            </a:r>
          </a:p>
        </p:txBody>
      </p:sp>
      <p:sp>
        <p:nvSpPr>
          <p:cNvPr id="4" name="Title"/>
          <p:cNvSpPr txBox="1"/>
          <p:nvPr/>
        </p:nvSpPr>
        <p:spPr>
          <a:xfrm>
            <a:off x="502920" y="713232"/>
            <a:ext cx="11185855" cy="960120"/>
          </a:xfrm>
          <a:prstGeom prst="rect">
            <a:avLst/>
          </a:prstGeom>
          <a:noFill/>
        </p:spPr>
        <p:txBody>
          <a:bodyPr wrap="square" lIns="0" rIns="0" tIns="0" bIns="0" anchor="t">
            <a:spAutoFit/>
          </a:bodyPr>
          <a:lstStyle/>
          <a:p>
            <a:pPr algn="l"/>
            <a:r>
              <a:rPr sz="3400" b="1" i="0">
                <a:solidFill>
                  <a:srgbClr val="0F2A3D"/>
                </a:solidFill>
                <a:latin typeface="Calibri"/>
              </a:rPr>
              <a:t>Voices and X posts</a:t>
            </a:r>
          </a:p>
        </p:txBody>
      </p:sp>
      <p:sp>
        <p:nvSpPr>
          <p:cNvPr id="5" name="Takeaways"/>
          <p:cNvSpPr txBox="1"/>
          <p:nvPr/>
        </p:nvSpPr>
        <p:spPr>
          <a:xfrm>
            <a:off x="502920" y="1965960"/>
            <a:ext cx="6675120" cy="4160520"/>
          </a:xfrm>
          <a:prstGeom prst="rect">
            <a:avLst/>
          </a:prstGeom>
          <a:noFill/>
        </p:spPr>
        <p:txBody>
          <a:bodyPr wrap="square" lIns="0" rIns="0" tIns="0" bIns="0">
            <a:spAutoFit/>
          </a:bodyPr>
          <a:lstStyle/>
          <a:p>
            <a:pPr>
              <a:spcAft>
                <a:spcPts val="1000"/>
              </a:spcAft>
            </a:pPr>
            <a:r>
              <a:rPr sz="1600" b="1">
                <a:solidFill>
                  <a:srgbClr val="0F7B5F"/>
                </a:solidFill>
                <a:latin typeface="Calibri"/>
              </a:rPr>
              <a:t>01  </a:t>
            </a:r>
            <a:r>
              <a:rPr sz="1600">
                <a:solidFill>
                  <a:srgbClr val="16181D"/>
                </a:solidFill>
                <a:latin typeface="Calibri"/>
              </a:rPr>
              <a:t>Simon Willison: independent first look at Haiku 5.5's pricing and quality</a:t>
            </a:r>
          </a:p>
          <a:p>
            <a:pPr>
              <a:spcAft>
                <a:spcPts val="1000"/>
              </a:spcAft>
            </a:pPr>
            <a:r>
              <a:rPr sz="1600" b="1">
                <a:solidFill>
                  <a:srgbClr val="0F7B5F"/>
                </a:solidFill>
                <a:latin typeface="Calibri"/>
              </a:rPr>
              <a:t>02  </a:t>
            </a:r>
            <a:r>
              <a:rPr sz="1600">
                <a:solidFill>
                  <a:srgbClr val="16181D"/>
                </a:solidFill>
                <a:latin typeface="Calibri"/>
              </a:rPr>
              <a:t>Boris Cherny (Anthropic): '10x cheaper than Haiku 4.5' at 100K context</a:t>
            </a:r>
          </a:p>
          <a:p>
            <a:pPr>
              <a:spcAft>
                <a:spcPts val="1000"/>
              </a:spcAft>
            </a:pPr>
            <a:r>
              <a:rPr sz="1600" b="1">
                <a:solidFill>
                  <a:srgbClr val="0F7B5F"/>
                </a:solidFill>
                <a:latin typeface="Calibri"/>
              </a:rPr>
              <a:t>03  </a:t>
            </a:r>
            <a:r>
              <a:rPr sz="1600">
                <a:solidFill>
                  <a:srgbClr val="16181D"/>
                </a:solidFill>
                <a:latin typeface="Calibri"/>
              </a:rPr>
              <a:t>Cursor ships Haiku 5.5 the same day</a:t>
            </a:r>
          </a:p>
          <a:p>
            <a:pPr>
              <a:spcAft>
                <a:spcPts val="1000"/>
              </a:spcAft>
            </a:pPr>
            <a:r>
              <a:rPr sz="1600" b="1">
                <a:solidFill>
                  <a:srgbClr val="0F7B5F"/>
                </a:solidFill>
                <a:latin typeface="Calibri"/>
              </a:rPr>
              <a:t>04  </a:t>
            </a:r>
            <a:r>
              <a:rPr sz="1600">
                <a:solidFill>
                  <a:srgbClr val="16181D"/>
                </a:solidFill>
                <a:latin typeface="Calibri"/>
              </a:rPr>
              <a:t>Independent caveat: about 3x GPT-6 Luna's cost per task</a:t>
            </a:r>
          </a:p>
          <a:p>
            <a:pPr>
              <a:spcAft>
                <a:spcPts val="1000"/>
              </a:spcAft>
            </a:pPr>
            <a:r>
              <a:rPr sz="1600" b="1">
                <a:solidFill>
                  <a:srgbClr val="0F7B5F"/>
                </a:solidFill>
                <a:latin typeface="Calibri"/>
              </a:rPr>
              <a:t>05  </a:t>
            </a:r>
            <a:r>
              <a:rPr sz="1600">
                <a:solidFill>
                  <a:srgbClr val="16181D"/>
                </a:solidFill>
                <a:latin typeface="Calibri"/>
              </a:rPr>
              <a:t>Engagement numbers omitted: none could be verified</a:t>
            </a:r>
          </a:p>
        </p:txBody>
      </p:sp>
      <p:sp>
        <p:nvSpPr>
          <p:cNvPr id="6" name="Panel"/>
          <p:cNvSpPr/>
          <p:nvPr/>
        </p:nvSpPr>
        <p:spPr>
          <a:xfrm>
            <a:off x="7543800" y="1828800"/>
            <a:ext cx="4144975" cy="4160520"/>
          </a:xfrm>
          <a:prstGeom prst="roundRect">
            <a:avLst>
              <a:gd name="adj" fmla="val 4000"/>
            </a:avLst>
          </a:prstGeom>
          <a:solidFill>
            <a:srgbClr val="E2F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18120" y="2057400"/>
            <a:ext cx="3596335" cy="274320"/>
          </a:xfrm>
          <a:prstGeom prst="rect">
            <a:avLst/>
          </a:prstGeom>
          <a:noFill/>
        </p:spPr>
        <p:txBody>
          <a:bodyPr wrap="square" lIns="0" rIns="0" tIns="0" bIns="0" anchor="t">
            <a:spAutoFit/>
          </a:bodyPr>
          <a:lstStyle/>
          <a:p>
            <a:pPr algn="l"/>
            <a:r>
              <a:rPr sz="1100" b="1" i="0">
                <a:solidFill>
                  <a:srgbClr val="0F7B5F"/>
                </a:solidFill>
                <a:latin typeface="Calibri"/>
              </a:rPr>
              <a:t>TOP X POSTS</a:t>
            </a:r>
          </a:p>
        </p:txBody>
      </p:sp>
      <p:graphicFrame>
        <p:nvGraphicFramePr>
          <p:cNvPr id="8" name="Panel table"/>
          <p:cNvGraphicFramePr>
            <a:graphicFrameLocks noGrp="1"/>
          </p:cNvGraphicFramePr>
          <p:nvPr/>
        </p:nvGraphicFramePr>
        <p:xfrm>
          <a:off x="7818120" y="2423160"/>
          <a:ext cx="3596335" cy="1371600"/>
        </p:xfrm>
        <a:graphic>
          <a:graphicData uri="http://schemas.openxmlformats.org/drawingml/2006/table">
            <a:tbl>
              <a:tblPr firstRow="1" bandRow="1">
                <a:tableStyleId>{5C22544A-7EE6-4342-B048-85BDC9FD1C3A}</a:tableStyleId>
              </a:tblPr>
              <a:tblGrid>
                <a:gridCol w="1198778"/>
                <a:gridCol w="1198778"/>
                <a:gridCol w="1198779"/>
              </a:tblGrid>
              <a:tr h="274320">
                <a:tc>
                  <a:txBody>
                    <a:bodyPr/>
                    <a:lstStyle/>
                    <a:p>
                      <a:r>
                        <a:rPr sz="1000" b="1">
                          <a:solidFill>
                            <a:srgbClr val="FFFFFF"/>
                          </a:solidFill>
                          <a:latin typeface="Calibri"/>
                        </a:rPr>
                        <a:t>Author</a:t>
                      </a:r>
                    </a:p>
                  </a:txBody>
                  <a:tcPr>
                    <a:solidFill>
                      <a:srgbClr val="0F2A3D"/>
                    </a:solidFill>
                  </a:tcPr>
                </a:tc>
                <a:tc>
                  <a:txBody>
                    <a:bodyPr/>
                    <a:lstStyle/>
                    <a:p>
                      <a:r>
                        <a:rPr sz="1000" b="1">
                          <a:solidFill>
                            <a:srgbClr val="FFFFFF"/>
                          </a:solidFill>
                          <a:latin typeface="Calibri"/>
                        </a:rPr>
                        <a:t>Post (paraphrase)</a:t>
                      </a:r>
                    </a:p>
                  </a:txBody>
                  <a:tcPr>
                    <a:solidFill>
                      <a:srgbClr val="0F2A3D"/>
                    </a:solidFill>
                  </a:tcPr>
                </a:tc>
                <a:tc>
                  <a:txBody>
                    <a:bodyPr/>
                    <a:lstStyle/>
                    <a:p>
                      <a:r>
                        <a:rPr sz="1000" b="1">
                          <a:solidFill>
                            <a:srgbClr val="FFFFFF"/>
                          </a:solidFill>
                          <a:latin typeface="Calibri"/>
                        </a:rPr>
                        <a:t>Time (IST)</a:t>
                      </a:r>
                    </a:p>
                  </a:txBody>
                  <a:tcPr>
                    <a:solidFill>
                      <a:srgbClr val="0F2A3D"/>
                    </a:solidFill>
                  </a:tcPr>
                </a:tc>
              </a:tr>
              <a:tr h="274320">
                <a:tc>
                  <a:txBody>
                    <a:bodyPr/>
                    <a:lstStyle/>
                    <a:p>
                      <a:r>
                        <a:rPr sz="1000" b="1">
                          <a:solidFill>
                            <a:srgbClr val="0F2A3D"/>
                          </a:solidFill>
                          <a:latin typeface="Calibri"/>
                        </a:rPr>
                        <a:t>Simon Willison (@simonw), independent developer</a:t>
                      </a:r>
                    </a:p>
                  </a:txBody>
                  <a:tcPr>
                    <a:solidFill>
                      <a:srgbClr val="FFFFFF"/>
                    </a:solidFill>
                  </a:tcPr>
                </a:tc>
                <a:tc>
                  <a:txBody>
                    <a:bodyPr/>
                    <a:lstStyle/>
                    <a:p>
                      <a:r>
                        <a:rPr sz="1000" b="0">
                          <a:solidFill>
                            <a:srgbClr val="16181D"/>
                          </a:solidFill>
                          <a:latin typeface="Calibri"/>
                        </a:rPr>
                        <a:t>Pelican tests and notes on Haiku 5.5's pricing; finds its SVGs much better than Haiku 4.5's</a:t>
                      </a:r>
                    </a:p>
                  </a:txBody>
                  <a:tcPr>
                    <a:solidFill>
                      <a:srgbClr val="FFFFFF"/>
                    </a:solidFill>
                  </a:tcPr>
                </a:tc>
                <a:tc>
                  <a:txBody>
                    <a:bodyPr/>
                    <a:lstStyle/>
                    <a:p>
                      <a:r>
                        <a:rPr sz="1000" b="0">
                          <a:solidFill>
                            <a:srgbClr val="16181D"/>
                          </a:solidFill>
                          <a:latin typeface="Calibri"/>
                        </a:rPr>
                        <a:t>8 Oct, 02:28</a:t>
                      </a:r>
                    </a:p>
                  </a:txBody>
                  <a:tcPr>
                    <a:solidFill>
                      <a:srgbClr val="FFFFFF"/>
                    </a:solidFill>
                  </a:tcPr>
                </a:tc>
              </a:tr>
              <a:tr h="274320">
                <a:tc>
                  <a:txBody>
                    <a:bodyPr/>
                    <a:lstStyle/>
                    <a:p>
                      <a:r>
                        <a:rPr sz="1000" b="1">
                          <a:solidFill>
                            <a:srgbClr val="0F2A3D"/>
                          </a:solidFill>
                          <a:latin typeface="Calibri"/>
                        </a:rPr>
                        <a:t>Boris Cherny (@bcherny), Anthropic, Claude Code lead</a:t>
                      </a:r>
                    </a:p>
                  </a:txBody>
                  <a:tcPr>
                    <a:solidFill>
                      <a:srgbClr val="F1F6F4"/>
                    </a:solidFill>
                  </a:tcPr>
                </a:tc>
                <a:tc>
                  <a:txBody>
                    <a:bodyPr/>
                    <a:lstStyle/>
                    <a:p>
                      <a:r>
                        <a:rPr sz="1000" b="0">
                          <a:solidFill>
                            <a:srgbClr val="16181D"/>
                          </a:solidFill>
                          <a:latin typeface="Calibri"/>
                        </a:rPr>
                        <a:t>Calls Haiku 5.5 'a good Haiku', 10x cheaper than 4.5 at 100K context</a:t>
                      </a:r>
                    </a:p>
                  </a:txBody>
                  <a:tcPr>
                    <a:solidFill>
                      <a:srgbClr val="F1F6F4"/>
                    </a:solidFill>
                  </a:tcPr>
                </a:tc>
                <a:tc>
                  <a:txBody>
                    <a:bodyPr/>
                    <a:lstStyle/>
                    <a:p>
                      <a:r>
                        <a:rPr sz="1000" b="0">
                          <a:solidFill>
                            <a:srgbClr val="16181D"/>
                          </a:solidFill>
                          <a:latin typeface="Calibri"/>
                        </a:rPr>
                        <a:t>8 Oct, 00:34</a:t>
                      </a:r>
                    </a:p>
                  </a:txBody>
                  <a:tcPr>
                    <a:solidFill>
                      <a:srgbClr val="F1F6F4"/>
                    </a:solidFill>
                  </a:tcPr>
                </a:tc>
              </a:tr>
              <a:tr h="274320">
                <a:tc>
                  <a:txBody>
                    <a:bodyPr/>
                    <a:lstStyle/>
                    <a:p>
                      <a:r>
                        <a:rPr sz="1000" b="1">
                          <a:solidFill>
                            <a:srgbClr val="0F2A3D"/>
                          </a:solidFill>
                          <a:latin typeface="Calibri"/>
                        </a:rPr>
                        <a:t>Cursor (@cursor_ai), company</a:t>
                      </a:r>
                    </a:p>
                  </a:txBody>
                  <a:tcPr>
                    <a:solidFill>
                      <a:srgbClr val="FFFFFF"/>
                    </a:solidFill>
                  </a:tcPr>
                </a:tc>
                <a:tc>
                  <a:txBody>
                    <a:bodyPr/>
                    <a:lstStyle/>
                    <a:p>
                      <a:r>
                        <a:rPr sz="1000" b="0">
                          <a:solidFill>
                            <a:srgbClr val="16181D"/>
                          </a:solidFill>
                          <a:latin typeface="Calibri"/>
                        </a:rPr>
                        <a:t>Haiku 5.5 available in Cursor at 10x lower cost on shorter requests</a:t>
                      </a:r>
                    </a:p>
                  </a:txBody>
                  <a:tcPr>
                    <a:solidFill>
                      <a:srgbClr val="FFFFFF"/>
                    </a:solidFill>
                  </a:tcPr>
                </a:tc>
                <a:tc>
                  <a:txBody>
                    <a:bodyPr/>
                    <a:lstStyle/>
                    <a:p>
                      <a:r>
                        <a:rPr sz="1000" b="0">
                          <a:solidFill>
                            <a:srgbClr val="16181D"/>
                          </a:solidFill>
                          <a:latin typeface="Calibri"/>
                        </a:rPr>
                        <a:t>7 Oct, 23:44</a:t>
                      </a:r>
                    </a:p>
                  </a:txBody>
                  <a:tcPr>
                    <a:solidFill>
                      <a:srgbClr val="FFFFFF"/>
                    </a:solidFill>
                  </a:tcPr>
                </a:tc>
              </a:tr>
              <a:tr h="274320">
                <a:tc>
                  <a:txBody>
                    <a:bodyPr/>
                    <a:lstStyle/>
                    <a:p>
                      <a:r>
                        <a:rPr sz="1000" b="1">
                          <a:solidFill>
                            <a:srgbClr val="0F2A3D"/>
                          </a:solidFill>
                          <a:latin typeface="Calibri"/>
                        </a:rPr>
                        <a:t>Context: Guillaume Lample (@GuillaumeLample), Mistral</a:t>
                      </a:r>
                    </a:p>
                  </a:txBody>
                  <a:tcPr>
                    <a:solidFill>
                      <a:srgbClr val="F1F6F4"/>
                    </a:solidFill>
                  </a:tcPr>
                </a:tc>
                <a:tc>
                  <a:txBody>
                    <a:bodyPr/>
                    <a:lstStyle/>
                    <a:p>
                      <a:r>
                        <a:rPr sz="1000" b="0">
                          <a:solidFill>
                            <a:srgbClr val="16181D"/>
                          </a:solidFill>
                          <a:latin typeface="Calibri"/>
                        </a:rPr>
                        <a:t>Announces the Mistral Large 4 preview; weights to follow this month</a:t>
                      </a:r>
                    </a:p>
                  </a:txBody>
                  <a:tcPr>
                    <a:solidFill>
                      <a:srgbClr val="F1F6F4"/>
                    </a:solidFill>
                  </a:tcPr>
                </a:tc>
                <a:tc>
                  <a:txBody>
                    <a:bodyPr/>
                    <a:lstStyle/>
                    <a:p>
                      <a:r>
                        <a:rPr sz="1000" b="0">
                          <a:solidFill>
                            <a:srgbClr val="16181D"/>
                          </a:solidFill>
                          <a:latin typeface="Calibri"/>
                        </a:rPr>
                        <a:t>6 Oct, 18:54</a:t>
                      </a:r>
                    </a:p>
                  </a:txBody>
                  <a:tcPr>
                    <a:solidFill>
                      <a:srgbClr val="F1F6F4"/>
                    </a:solidFill>
                  </a:tcPr>
                </a:tc>
              </a:tr>
            </a:tbl>
          </a:graphicData>
        </a:graphic>
      </p:graphicFrame>
      <p:sp>
        <p:nvSpPr>
          <p:cNvPr id="9" name="Sources"/>
          <p:cNvSpPr txBox="1"/>
          <p:nvPr/>
        </p:nvSpPr>
        <p:spPr>
          <a:xfrm>
            <a:off x="502920" y="6199632"/>
            <a:ext cx="11185855" cy="274320"/>
          </a:xfrm>
          <a:prstGeom prst="rect">
            <a:avLst/>
          </a:prstGeom>
          <a:noFill/>
        </p:spPr>
        <p:txBody>
          <a:bodyPr wrap="square" lIns="0" rIns="0" tIns="0" bIns="0" anchor="t">
            <a:spAutoFit/>
          </a:bodyPr>
          <a:lstStyle/>
          <a:p>
            <a:pPr algn="l"/>
            <a:r>
              <a:rPr sz="1000" b="1" i="0">
                <a:solidFill>
                  <a:srgbClr val="0F2A3D"/>
                </a:solidFill>
                <a:latin typeface="Calibri"/>
              </a:rPr>
              <a:t>Sources  </a:t>
            </a:r>
            <a:r>
              <a:rPr sz="1000" b="0" i="0">
                <a:solidFill>
                  <a:srgbClr val="0F7B5F"/>
                </a:solidFill>
                <a:latin typeface="Calibri"/>
                <a:hlinkClick r:id="rId2"/>
              </a:rPr>
              <a:t>[1] Anthropic</a:t>
            </a:r>
            <a:r>
              <a:rPr sz="1000" b="0" i="0">
                <a:solidFill>
                  <a:srgbClr val="000000"/>
                </a:solidFill>
                <a:latin typeface="Calibri"/>
              </a:rPr>
              <a:t>   </a:t>
            </a:r>
            <a:r>
              <a:rPr sz="1000" b="0" i="0">
                <a:solidFill>
                  <a:srgbClr val="0F7B5F"/>
                </a:solidFill>
                <a:latin typeface="Calibri"/>
                <a:hlinkClick r:id="rId3"/>
              </a:rPr>
              <a:t>[13] Neowin</a:t>
            </a:r>
          </a:p>
        </p:txBody>
      </p:sp>
      <p:sp>
        <p:nvSpPr>
          <p:cNvPr id="10" name="Slide number"/>
          <p:cNvSpPr txBox="1"/>
          <p:nvPr/>
        </p:nvSpPr>
        <p:spPr>
          <a:xfrm>
            <a:off x="10591495" y="6473952"/>
            <a:ext cx="1097280" cy="228600"/>
          </a:xfrm>
          <a:prstGeom prst="rect">
            <a:avLst/>
          </a:prstGeom>
          <a:noFill/>
        </p:spPr>
        <p:txBody>
          <a:bodyPr wrap="square" lIns="0" rIns="0" tIns="0" bIns="0" anchor="t">
            <a:spAutoFit/>
          </a:bodyPr>
          <a:lstStyle/>
          <a:p>
            <a:pPr algn="r"/>
            <a:r>
              <a:rPr sz="1000" b="0" i="0">
                <a:solidFill>
                  <a:srgbClr val="16181D"/>
                </a:solidFill>
                <a:latin typeface="Calibri"/>
              </a:rPr>
              <a:t>5 / 10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nning header"/>
          <p:cNvSpPr txBox="1"/>
          <p:nvPr/>
        </p:nvSpPr>
        <p:spPr>
          <a:xfrm>
            <a:off x="502920" y="292608"/>
            <a:ext cx="11185855" cy="274320"/>
          </a:xfrm>
          <a:prstGeom prst="rect">
            <a:avLst/>
          </a:prstGeom>
          <a:noFill/>
        </p:spPr>
        <p:txBody>
          <a:bodyPr wrap="square" lIns="0" rIns="0" tIns="0" bIns="0" anchor="t">
            <a:spAutoFit/>
          </a:bodyPr>
          <a:lstStyle/>
          <a:p>
            <a:pPr algn="l"/>
            <a:r>
              <a:rPr sz="1200" b="1" i="0">
                <a:solidFill>
                  <a:srgbClr val="0F2A3D"/>
                </a:solidFill>
                <a:latin typeface="Calibri"/>
              </a:rPr>
              <a:t>Rajesh's AI &amp; IT Daily</a:t>
            </a:r>
            <a:r>
              <a:rPr sz="1100" b="1" i="0">
                <a:solidFill>
                  <a:srgbClr val="0F7B5F"/>
                </a:solidFill>
                <a:latin typeface="Calibri"/>
              </a:rPr>
              <a:t>   ·   06  DEVELOPER DESK</a:t>
            </a:r>
            <a:r>
              <a:rPr sz="1100" b="0" i="0">
                <a:solidFill>
                  <a:srgbClr val="16181D"/>
                </a:solidFill>
                <a:latin typeface="Calibri"/>
              </a:rPr>
              <a:t>   ·   Thursday, 8 October 2026</a:t>
            </a:r>
          </a:p>
        </p:txBody>
      </p:sp>
      <p:sp>
        <p:nvSpPr>
          <p:cNvPr id="4" name="Title"/>
          <p:cNvSpPr txBox="1"/>
          <p:nvPr/>
        </p:nvSpPr>
        <p:spPr>
          <a:xfrm>
            <a:off x="502920" y="713232"/>
            <a:ext cx="11185855" cy="960120"/>
          </a:xfrm>
          <a:prstGeom prst="rect">
            <a:avLst/>
          </a:prstGeom>
          <a:noFill/>
        </p:spPr>
        <p:txBody>
          <a:bodyPr wrap="square" lIns="0" rIns="0" tIns="0" bIns="0" anchor="t">
            <a:spAutoFit/>
          </a:bodyPr>
          <a:lstStyle/>
          <a:p>
            <a:pPr algn="l"/>
            <a:r>
              <a:rPr sz="3400" b="1" i="0">
                <a:solidFill>
                  <a:srgbClr val="0F2A3D"/>
                </a:solidFill>
                <a:latin typeface="Calibri"/>
              </a:rPr>
              <a:t>Developer desk</a:t>
            </a:r>
          </a:p>
        </p:txBody>
      </p:sp>
      <p:sp>
        <p:nvSpPr>
          <p:cNvPr id="5" name="Takeaways"/>
          <p:cNvSpPr txBox="1"/>
          <p:nvPr/>
        </p:nvSpPr>
        <p:spPr>
          <a:xfrm>
            <a:off x="502920" y="1965960"/>
            <a:ext cx="6675120" cy="4160520"/>
          </a:xfrm>
          <a:prstGeom prst="rect">
            <a:avLst/>
          </a:prstGeom>
          <a:noFill/>
        </p:spPr>
        <p:txBody>
          <a:bodyPr wrap="square" lIns="0" rIns="0" tIns="0" bIns="0">
            <a:spAutoFit/>
          </a:bodyPr>
          <a:lstStyle/>
          <a:p>
            <a:pPr>
              <a:spcAft>
                <a:spcPts val="1000"/>
              </a:spcAft>
            </a:pPr>
            <a:r>
              <a:rPr sz="1600" b="1">
                <a:solidFill>
                  <a:srgbClr val="0F7B5F"/>
                </a:solidFill>
                <a:latin typeface="Calibri"/>
              </a:rPr>
              <a:t>01  </a:t>
            </a:r>
            <a:r>
              <a:rPr sz="1600">
                <a:solidFill>
                  <a:srgbClr val="16181D"/>
                </a:solidFill>
                <a:latin typeface="Calibri"/>
              </a:rPr>
              <a:t>Haiku 5.5 GA in Copilot across VS Code, JetBrains, Eclipse and the CLI</a:t>
            </a:r>
          </a:p>
          <a:p>
            <a:pPr>
              <a:spcAft>
                <a:spcPts val="1000"/>
              </a:spcAft>
            </a:pPr>
            <a:r>
              <a:rPr sz="1600" b="1">
                <a:solidFill>
                  <a:srgbClr val="0F7B5F"/>
                </a:solidFill>
                <a:latin typeface="Calibri"/>
              </a:rPr>
              <a:t>02  </a:t>
            </a:r>
            <a:r>
              <a:rPr sz="1600">
                <a:solidFill>
                  <a:srgbClr val="16181D"/>
                </a:solidFill>
                <a:latin typeface="Calibri"/>
              </a:rPr>
              <a:t>GitHub's new model finds secrets with no recognisable format</a:t>
            </a:r>
          </a:p>
          <a:p>
            <a:pPr>
              <a:spcAft>
                <a:spcPts val="1000"/>
              </a:spcAft>
            </a:pPr>
            <a:r>
              <a:rPr sz="1600" b="1">
                <a:solidFill>
                  <a:srgbClr val="0F7B5F"/>
                </a:solidFill>
                <a:latin typeface="Calibri"/>
              </a:rPr>
              <a:t>03  </a:t>
            </a:r>
            <a:r>
              <a:rPr sz="1600">
                <a:solidFill>
                  <a:srgbClr val="16181D"/>
                </a:solidFill>
                <a:latin typeface="Calibri"/>
              </a:rPr>
              <a:t>Migration: drop sampling parameters and prefill; parse blocks by type</a:t>
            </a:r>
          </a:p>
          <a:p>
            <a:pPr>
              <a:spcAft>
                <a:spcPts val="1000"/>
              </a:spcAft>
            </a:pPr>
            <a:r>
              <a:rPr sz="1600" b="1">
                <a:solidFill>
                  <a:srgbClr val="0F7B5F"/>
                </a:solidFill>
                <a:latin typeface="Calibri"/>
              </a:rPr>
              <a:t>04  </a:t>
            </a:r>
            <a:r>
              <a:rPr sz="1600">
                <a:solidFill>
                  <a:srgbClr val="16181D"/>
                </a:solidFill>
                <a:latin typeface="Calibri"/>
              </a:rPr>
              <a:t>Python 3.15.0 due 9 October; JDK patch update 20 October</a:t>
            </a:r>
          </a:p>
          <a:p>
            <a:pPr>
              <a:spcAft>
                <a:spcPts val="1000"/>
              </a:spcAft>
            </a:pPr>
            <a:r>
              <a:rPr sz="1600" b="1">
                <a:solidFill>
                  <a:srgbClr val="0F7B5F"/>
                </a:solidFill>
                <a:latin typeface="Calibri"/>
              </a:rPr>
              <a:t>05  </a:t>
            </a:r>
            <a:r>
              <a:rPr sz="1600">
                <a:solidFill>
                  <a:srgbClr val="16181D"/>
                </a:solidFill>
                <a:latin typeface="Calibri"/>
              </a:rPr>
              <a:t>No verified Spring, LangChain4j or FastAPI releases in the window</a:t>
            </a:r>
          </a:p>
        </p:txBody>
      </p:sp>
      <p:sp>
        <p:nvSpPr>
          <p:cNvPr id="6" name="Panel"/>
          <p:cNvSpPr/>
          <p:nvPr/>
        </p:nvSpPr>
        <p:spPr>
          <a:xfrm>
            <a:off x="7543800" y="1828800"/>
            <a:ext cx="4144975" cy="4160520"/>
          </a:xfrm>
          <a:prstGeom prst="roundRect">
            <a:avLst>
              <a:gd name="adj" fmla="val 4000"/>
            </a:avLst>
          </a:prstGeom>
          <a:solidFill>
            <a:srgbClr val="E2F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18120" y="2057400"/>
            <a:ext cx="3596335" cy="274320"/>
          </a:xfrm>
          <a:prstGeom prst="rect">
            <a:avLst/>
          </a:prstGeom>
          <a:noFill/>
        </p:spPr>
        <p:txBody>
          <a:bodyPr wrap="square" lIns="0" rIns="0" tIns="0" bIns="0" anchor="t">
            <a:spAutoFit/>
          </a:bodyPr>
          <a:lstStyle/>
          <a:p>
            <a:pPr algn="l"/>
            <a:r>
              <a:rPr sz="1100" b="1" i="0">
                <a:solidFill>
                  <a:srgbClr val="0F7B5F"/>
                </a:solidFill>
                <a:latin typeface="Calibri"/>
              </a:rPr>
              <a:t>SDK MIGRATION</a:t>
            </a:r>
          </a:p>
        </p:txBody>
      </p:sp>
      <p:sp>
        <p:nvSpPr>
          <p:cNvPr id="8" name="TextBox 7"/>
          <p:cNvSpPr txBox="1"/>
          <p:nvPr/>
        </p:nvSpPr>
        <p:spPr>
          <a:xfrm>
            <a:off x="7818120" y="2423160"/>
            <a:ext cx="3596335" cy="1097280"/>
          </a:xfrm>
          <a:prstGeom prst="rect">
            <a:avLst/>
          </a:prstGeom>
          <a:noFill/>
        </p:spPr>
        <p:txBody>
          <a:bodyPr wrap="square" lIns="0" rIns="0" tIns="0" bIns="0" anchor="t">
            <a:spAutoFit/>
          </a:bodyPr>
          <a:lstStyle/>
          <a:p>
            <a:pPr algn="l"/>
            <a:r>
              <a:rPr sz="2000" b="1" i="0">
                <a:solidFill>
                  <a:srgbClr val="0F2A3D"/>
                </a:solidFill>
                <a:latin typeface="Calibri"/>
              </a:rPr>
              <a:t>Before switching a Java or Python service to Haiku 5.5</a:t>
            </a:r>
          </a:p>
        </p:txBody>
      </p:sp>
      <p:sp>
        <p:nvSpPr>
          <p:cNvPr id="9" name="Panel items"/>
          <p:cNvSpPr txBox="1"/>
          <p:nvPr/>
        </p:nvSpPr>
        <p:spPr>
          <a:xfrm>
            <a:off x="7818120" y="3520440"/>
            <a:ext cx="3596335" cy="2286001"/>
          </a:xfrm>
          <a:prstGeom prst="rect">
            <a:avLst/>
          </a:prstGeom>
          <a:noFill/>
        </p:spPr>
        <p:txBody>
          <a:bodyPr wrap="square" lIns="0" rIns="0" tIns="0" bIns="0" anchor="t">
            <a:spAutoFit/>
          </a:bodyPr>
          <a:lstStyle/>
          <a:p>
            <a:pPr algn="l">
              <a:spcAft>
                <a:spcPts val="600"/>
              </a:spcAft>
            </a:pPr>
            <a:r>
              <a:rPr sz="1300" b="1" i="0">
                <a:solidFill>
                  <a:srgbClr val="0F7B5F"/>
                </a:solidFill>
                <a:latin typeface="Calibri"/>
              </a:rPr>
              <a:t>•  </a:t>
            </a:r>
            <a:r>
              <a:rPr sz="1300" b="0" i="0">
                <a:solidFill>
                  <a:srgbClr val="16181D"/>
                </a:solidFill>
                <a:latin typeface="Calibri"/>
              </a:rPr>
              <a:t>Remove non-default temperature, top_p and top_k; they return a 400 error</a:t>
            </a:r>
          </a:p>
          <a:p>
            <a:pPr algn="l">
              <a:spcAft>
                <a:spcPts val="600"/>
              </a:spcAft>
            </a:pPr>
            <a:r>
              <a:rPr sz="1300" b="1" i="0">
                <a:solidFill>
                  <a:srgbClr val="0F7B5F"/>
                </a:solidFill>
                <a:latin typeface="Calibri"/>
              </a:rPr>
              <a:t>•  </a:t>
            </a:r>
            <a:r>
              <a:rPr sz="1300" b="0" i="0">
                <a:solidFill>
                  <a:srgbClr val="16181D"/>
                </a:solidFill>
                <a:latin typeface="Calibri"/>
              </a:rPr>
              <a:t>End messages with a user turn; assistant prefill now errors</a:t>
            </a:r>
          </a:p>
          <a:p>
            <a:pPr algn="l">
              <a:spcAft>
                <a:spcPts val="600"/>
              </a:spcAft>
            </a:pPr>
            <a:r>
              <a:rPr sz="1300" b="1" i="0">
                <a:solidFill>
                  <a:srgbClr val="0F7B5F"/>
                </a:solidFill>
                <a:latin typeface="Calibri"/>
              </a:rPr>
              <a:t>•  </a:t>
            </a:r>
            <a:r>
              <a:rPr sz="1300" b="0" i="0">
                <a:solidFill>
                  <a:srgbClr val="16181D"/>
                </a:solidFill>
                <a:latin typeface="Calibri"/>
              </a:rPr>
              <a:t>Parse content blocks by type, because thinking blocks can come first</a:t>
            </a:r>
          </a:p>
          <a:p>
            <a:pPr algn="l">
              <a:spcAft>
                <a:spcPts val="600"/>
              </a:spcAft>
            </a:pPr>
            <a:r>
              <a:rPr sz="1300" b="1" i="0">
                <a:solidFill>
                  <a:srgbClr val="0F7B5F"/>
                </a:solidFill>
                <a:latin typeface="Calibri"/>
              </a:rPr>
              <a:t>•  </a:t>
            </a:r>
            <a:r>
              <a:rPr sz="1300" b="0" i="0">
                <a:solidFill>
                  <a:srgbClr val="16181D"/>
                </a:solidFill>
                <a:latin typeface="Calibri"/>
              </a:rPr>
              <a:t>Re-baseline costs: the same text counts as about 30% more tokens</a:t>
            </a:r>
          </a:p>
        </p:txBody>
      </p:sp>
      <p:sp>
        <p:nvSpPr>
          <p:cNvPr id="10" name="Sources"/>
          <p:cNvSpPr txBox="1"/>
          <p:nvPr/>
        </p:nvSpPr>
        <p:spPr>
          <a:xfrm>
            <a:off x="502920" y="6199632"/>
            <a:ext cx="11185855" cy="274320"/>
          </a:xfrm>
          <a:prstGeom prst="rect">
            <a:avLst/>
          </a:prstGeom>
          <a:noFill/>
        </p:spPr>
        <p:txBody>
          <a:bodyPr wrap="square" lIns="0" rIns="0" tIns="0" bIns="0" anchor="t">
            <a:spAutoFit/>
          </a:bodyPr>
          <a:lstStyle/>
          <a:p>
            <a:pPr algn="l"/>
            <a:r>
              <a:rPr sz="1000" b="1" i="0">
                <a:solidFill>
                  <a:srgbClr val="0F2A3D"/>
                </a:solidFill>
                <a:latin typeface="Calibri"/>
              </a:rPr>
              <a:t>Sources  </a:t>
            </a:r>
            <a:r>
              <a:rPr sz="1000" b="0" i="0">
                <a:solidFill>
                  <a:srgbClr val="0F7B5F"/>
                </a:solidFill>
                <a:latin typeface="Calibri"/>
                <a:hlinkClick r:id="rId2"/>
              </a:rPr>
              <a:t>[23] GitHub Changelog</a:t>
            </a:r>
            <a:r>
              <a:rPr sz="1000" b="0" i="0">
                <a:solidFill>
                  <a:srgbClr val="000000"/>
                </a:solidFill>
                <a:latin typeface="Calibri"/>
              </a:rPr>
              <a:t>   </a:t>
            </a:r>
            <a:r>
              <a:rPr sz="1000" b="0" i="0">
                <a:solidFill>
                  <a:srgbClr val="0F7B5F"/>
                </a:solidFill>
                <a:latin typeface="Calibri"/>
                <a:hlinkClick r:id="rId3"/>
              </a:rPr>
              <a:t>[53] GitHub Changelog</a:t>
            </a:r>
            <a:r>
              <a:rPr sz="1000" b="0" i="0">
                <a:solidFill>
                  <a:srgbClr val="000000"/>
                </a:solidFill>
                <a:latin typeface="Calibri"/>
              </a:rPr>
              <a:t>   </a:t>
            </a:r>
            <a:r>
              <a:rPr sz="1000" b="0" i="0">
                <a:solidFill>
                  <a:srgbClr val="0F7B5F"/>
                </a:solidFill>
                <a:latin typeface="Calibri"/>
                <a:hlinkClick r:id="rId4"/>
              </a:rPr>
              <a:t>[11] Claude Platform Docs</a:t>
            </a:r>
            <a:r>
              <a:rPr sz="1000" b="0" i="0">
                <a:solidFill>
                  <a:srgbClr val="000000"/>
                </a:solidFill>
                <a:latin typeface="Calibri"/>
              </a:rPr>
              <a:t>   </a:t>
            </a:r>
            <a:r>
              <a:rPr sz="1000" b="0" i="0">
                <a:solidFill>
                  <a:srgbClr val="0F7B5F"/>
                </a:solidFill>
                <a:latin typeface="Calibri"/>
                <a:hlinkClick r:id="rId5"/>
              </a:rPr>
              <a:t>[54] Python.org</a:t>
            </a:r>
            <a:r>
              <a:rPr sz="1000" b="0" i="0">
                <a:solidFill>
                  <a:srgbClr val="000000"/>
                </a:solidFill>
                <a:latin typeface="Calibri"/>
              </a:rPr>
              <a:t>   </a:t>
            </a:r>
            <a:r>
              <a:rPr sz="1000" b="0" i="0">
                <a:solidFill>
                  <a:srgbClr val="0F7B5F"/>
                </a:solidFill>
                <a:latin typeface="Calibri"/>
                <a:hlinkClick r:id="rId6"/>
              </a:rPr>
              <a:t>[55] Java.com</a:t>
            </a:r>
          </a:p>
        </p:txBody>
      </p:sp>
      <p:sp>
        <p:nvSpPr>
          <p:cNvPr id="11" name="Slide number"/>
          <p:cNvSpPr txBox="1"/>
          <p:nvPr/>
        </p:nvSpPr>
        <p:spPr>
          <a:xfrm>
            <a:off x="10591495" y="6473952"/>
            <a:ext cx="1097280" cy="228600"/>
          </a:xfrm>
          <a:prstGeom prst="rect">
            <a:avLst/>
          </a:prstGeom>
          <a:noFill/>
        </p:spPr>
        <p:txBody>
          <a:bodyPr wrap="square" lIns="0" rIns="0" tIns="0" bIns="0" anchor="t">
            <a:spAutoFit/>
          </a:bodyPr>
          <a:lstStyle/>
          <a:p>
            <a:pPr algn="r"/>
            <a:r>
              <a:rPr sz="1000" b="0" i="0">
                <a:solidFill>
                  <a:srgbClr val="16181D"/>
                </a:solidFill>
                <a:latin typeface="Calibri"/>
              </a:rPr>
              <a:t>6 / 10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nning header"/>
          <p:cNvSpPr txBox="1"/>
          <p:nvPr/>
        </p:nvSpPr>
        <p:spPr>
          <a:xfrm>
            <a:off x="502920" y="292608"/>
            <a:ext cx="11185855" cy="274320"/>
          </a:xfrm>
          <a:prstGeom prst="rect">
            <a:avLst/>
          </a:prstGeom>
          <a:noFill/>
        </p:spPr>
        <p:txBody>
          <a:bodyPr wrap="square" lIns="0" rIns="0" tIns="0" bIns="0" anchor="t">
            <a:spAutoFit/>
          </a:bodyPr>
          <a:lstStyle/>
          <a:p>
            <a:pPr algn="l"/>
            <a:r>
              <a:rPr sz="1200" b="1" i="0">
                <a:solidFill>
                  <a:srgbClr val="0F2A3D"/>
                </a:solidFill>
                <a:latin typeface="Calibri"/>
              </a:rPr>
              <a:t>Rajesh's AI &amp; IT Daily</a:t>
            </a:r>
            <a:r>
              <a:rPr sz="1100" b="1" i="0">
                <a:solidFill>
                  <a:srgbClr val="0F7B5F"/>
                </a:solidFill>
                <a:latin typeface="Calibri"/>
              </a:rPr>
              <a:t>   ·   07  MONEY, CHIPS &amp; TRUST</a:t>
            </a:r>
            <a:r>
              <a:rPr sz="1100" b="0" i="0">
                <a:solidFill>
                  <a:srgbClr val="16181D"/>
                </a:solidFill>
                <a:latin typeface="Calibri"/>
              </a:rPr>
              <a:t>   ·   Thursday, 8 October 2026</a:t>
            </a:r>
          </a:p>
        </p:txBody>
      </p:sp>
      <p:sp>
        <p:nvSpPr>
          <p:cNvPr id="4" name="Title"/>
          <p:cNvSpPr txBox="1"/>
          <p:nvPr/>
        </p:nvSpPr>
        <p:spPr>
          <a:xfrm>
            <a:off x="502920" y="713232"/>
            <a:ext cx="11185855" cy="960120"/>
          </a:xfrm>
          <a:prstGeom prst="rect">
            <a:avLst/>
          </a:prstGeom>
          <a:noFill/>
        </p:spPr>
        <p:txBody>
          <a:bodyPr wrap="square" lIns="0" rIns="0" tIns="0" bIns="0" anchor="t">
            <a:spAutoFit/>
          </a:bodyPr>
          <a:lstStyle/>
          <a:p>
            <a:pPr algn="l"/>
            <a:r>
              <a:rPr sz="3400" b="1" i="0">
                <a:solidFill>
                  <a:srgbClr val="0F2A3D"/>
                </a:solidFill>
                <a:latin typeface="Calibri"/>
              </a:rPr>
              <a:t>Money, chips and trust</a:t>
            </a:r>
          </a:p>
        </p:txBody>
      </p:sp>
      <p:sp>
        <p:nvSpPr>
          <p:cNvPr id="5" name="Takeaways"/>
          <p:cNvSpPr txBox="1"/>
          <p:nvPr/>
        </p:nvSpPr>
        <p:spPr>
          <a:xfrm>
            <a:off x="502920" y="1965960"/>
            <a:ext cx="6675120" cy="4160520"/>
          </a:xfrm>
          <a:prstGeom prst="rect">
            <a:avLst/>
          </a:prstGeom>
          <a:noFill/>
        </p:spPr>
        <p:txBody>
          <a:bodyPr wrap="square" lIns="0" rIns="0" tIns="0" bIns="0">
            <a:spAutoFit/>
          </a:bodyPr>
          <a:lstStyle/>
          <a:p>
            <a:pPr>
              <a:spcAft>
                <a:spcPts val="1000"/>
              </a:spcAft>
            </a:pPr>
            <a:r>
              <a:rPr sz="1600" b="1">
                <a:solidFill>
                  <a:srgbClr val="0F7B5F"/>
                </a:solidFill>
                <a:latin typeface="Calibri"/>
              </a:rPr>
              <a:t>01  </a:t>
            </a:r>
            <a:r>
              <a:rPr sz="1600">
                <a:solidFill>
                  <a:srgbClr val="16181D"/>
                </a:solidFill>
                <a:latin typeface="Calibri"/>
              </a:rPr>
              <a:t>WSJ: Broadcom seeks more than $50bn of private credit for OpenAI's chips; early talks</a:t>
            </a:r>
          </a:p>
          <a:p>
            <a:pPr>
              <a:spcAft>
                <a:spcPts val="1000"/>
              </a:spcAft>
            </a:pPr>
            <a:r>
              <a:rPr sz="1600" b="1">
                <a:solidFill>
                  <a:srgbClr val="0F7B5F"/>
                </a:solidFill>
                <a:latin typeface="Calibri"/>
              </a:rPr>
              <a:t>02  </a:t>
            </a:r>
            <a:r>
              <a:rPr sz="1600">
                <a:solidFill>
                  <a:srgbClr val="16181D"/>
                </a:solidFill>
                <a:latin typeface="Calibri"/>
              </a:rPr>
              <a:t>Samsung guides Q3 profit to ~₩107.4tn; TSMC September revenue NT$511.86bn</a:t>
            </a:r>
          </a:p>
          <a:p>
            <a:pPr>
              <a:spcAft>
                <a:spcPts val="1000"/>
              </a:spcAft>
            </a:pPr>
            <a:r>
              <a:rPr sz="1600" b="1">
                <a:solidFill>
                  <a:srgbClr val="0F7B5F"/>
                </a:solidFill>
                <a:latin typeface="Calibri"/>
              </a:rPr>
              <a:t>03  </a:t>
            </a:r>
            <a:r>
              <a:rPr sz="1600">
                <a:solidFill>
                  <a:srgbClr val="16181D"/>
                </a:solidFill>
                <a:latin typeface="Calibri"/>
              </a:rPr>
              <a:t>Isomorphic Labs in talks at a valuation of at least $40bn</a:t>
            </a:r>
          </a:p>
          <a:p>
            <a:pPr>
              <a:spcAft>
                <a:spcPts val="1000"/>
              </a:spcAft>
            </a:pPr>
            <a:r>
              <a:rPr sz="1600" b="1">
                <a:solidFill>
                  <a:srgbClr val="0F7B5F"/>
                </a:solidFill>
                <a:latin typeface="Calibri"/>
              </a:rPr>
              <a:t>04  </a:t>
            </a:r>
            <a:r>
              <a:rPr sz="1600">
                <a:solidFill>
                  <a:srgbClr val="16181D"/>
                </a:solidFill>
                <a:latin typeface="Calibri"/>
              </a:rPr>
              <a:t>Patch Atlassian Data Center for CVE-2026-21589 today</a:t>
            </a:r>
          </a:p>
          <a:p>
            <a:pPr>
              <a:spcAft>
                <a:spcPts val="1000"/>
              </a:spcAft>
            </a:pPr>
            <a:r>
              <a:rPr sz="1600" b="1">
                <a:solidFill>
                  <a:srgbClr val="0F7B5F"/>
                </a:solidFill>
                <a:latin typeface="Calibri"/>
              </a:rPr>
              <a:t>05  </a:t>
            </a:r>
            <a:r>
              <a:rPr sz="1600">
                <a:solidFill>
                  <a:srgbClr val="16181D"/>
                </a:solidFill>
                <a:latin typeface="Calibri"/>
              </a:rPr>
              <a:t>Never add the deal amounts together: different borrowers, types and stages</a:t>
            </a:r>
          </a:p>
        </p:txBody>
      </p:sp>
      <p:sp>
        <p:nvSpPr>
          <p:cNvPr id="6" name="Panel"/>
          <p:cNvSpPr/>
          <p:nvPr/>
        </p:nvSpPr>
        <p:spPr>
          <a:xfrm>
            <a:off x="7543800" y="1828800"/>
            <a:ext cx="4144975" cy="4160520"/>
          </a:xfrm>
          <a:prstGeom prst="roundRect">
            <a:avLst>
              <a:gd name="adj" fmla="val 4000"/>
            </a:avLst>
          </a:prstGeom>
          <a:solidFill>
            <a:srgbClr val="E2F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18120" y="2057400"/>
            <a:ext cx="3596335" cy="274320"/>
          </a:xfrm>
          <a:prstGeom prst="rect">
            <a:avLst/>
          </a:prstGeom>
          <a:noFill/>
        </p:spPr>
        <p:txBody>
          <a:bodyPr wrap="square" lIns="0" rIns="0" tIns="0" bIns="0" anchor="t">
            <a:spAutoFit/>
          </a:bodyPr>
          <a:lstStyle/>
          <a:p>
            <a:pPr algn="l"/>
            <a:r>
              <a:rPr sz="1100" b="1" i="0">
                <a:solidFill>
                  <a:srgbClr val="0F7B5F"/>
                </a:solidFill>
                <a:latin typeface="Calibri"/>
              </a:rPr>
              <a:t>DEAL TRACKER</a:t>
            </a:r>
          </a:p>
        </p:txBody>
      </p:sp>
      <p:graphicFrame>
        <p:nvGraphicFramePr>
          <p:cNvPr id="8" name="Panel table"/>
          <p:cNvGraphicFramePr>
            <a:graphicFrameLocks noGrp="1"/>
          </p:cNvGraphicFramePr>
          <p:nvPr/>
        </p:nvGraphicFramePr>
        <p:xfrm>
          <a:off x="7818120" y="2423160"/>
          <a:ext cx="3596335" cy="1645920"/>
        </p:xfrm>
        <a:graphic>
          <a:graphicData uri="http://schemas.openxmlformats.org/drawingml/2006/table">
            <a:tbl>
              <a:tblPr firstRow="1" bandRow="1">
                <a:tableStyleId>{5C22544A-7EE6-4342-B048-85BDC9FD1C3A}</a:tableStyleId>
              </a:tblPr>
              <a:tblGrid>
                <a:gridCol w="1198778"/>
                <a:gridCol w="1198778"/>
                <a:gridCol w="1198779"/>
              </a:tblGrid>
              <a:tr h="274320">
                <a:tc>
                  <a:txBody>
                    <a:bodyPr/>
                    <a:lstStyle/>
                    <a:p>
                      <a:r>
                        <a:rPr sz="1000" b="1">
                          <a:solidFill>
                            <a:srgbClr val="FFFFFF"/>
                          </a:solidFill>
                          <a:latin typeface="Calibri"/>
                        </a:rPr>
                        <a:t>Buyer / investor</a:t>
                      </a:r>
                    </a:p>
                  </a:txBody>
                  <a:tcPr>
                    <a:solidFill>
                      <a:srgbClr val="0F2A3D"/>
                    </a:solidFill>
                  </a:tcPr>
                </a:tc>
                <a:tc>
                  <a:txBody>
                    <a:bodyPr/>
                    <a:lstStyle/>
                    <a:p>
                      <a:r>
                        <a:rPr sz="1000" b="1">
                          <a:solidFill>
                            <a:srgbClr val="FFFFFF"/>
                          </a:solidFill>
                          <a:latin typeface="Calibri"/>
                        </a:rPr>
                        <a:t>Recipient</a:t>
                      </a:r>
                    </a:p>
                  </a:txBody>
                  <a:tcPr>
                    <a:solidFill>
                      <a:srgbClr val="0F2A3D"/>
                    </a:solidFill>
                  </a:tcPr>
                </a:tc>
                <a:tc>
                  <a:txBody>
                    <a:bodyPr/>
                    <a:lstStyle/>
                    <a:p>
                      <a:r>
                        <a:rPr sz="1000" b="1">
                          <a:solidFill>
                            <a:srgbClr val="FFFFFF"/>
                          </a:solidFill>
                          <a:latin typeface="Calibri"/>
                        </a:rPr>
                        <a:t>Type</a:t>
                      </a:r>
                    </a:p>
                  </a:txBody>
                  <a:tcPr>
                    <a:solidFill>
                      <a:srgbClr val="0F2A3D"/>
                    </a:solidFill>
                  </a:tcPr>
                </a:tc>
              </a:tr>
              <a:tr h="274320">
                <a:tc>
                  <a:txBody>
                    <a:bodyPr/>
                    <a:lstStyle/>
                    <a:p>
                      <a:r>
                        <a:rPr sz="1000" b="1">
                          <a:solidFill>
                            <a:srgbClr val="0F2A3D"/>
                          </a:solidFill>
                          <a:latin typeface="Calibri"/>
                        </a:rPr>
                        <a:t>Lenders incl. Apollo, Blackstone</a:t>
                      </a:r>
                    </a:p>
                  </a:txBody>
                  <a:tcPr>
                    <a:solidFill>
                      <a:srgbClr val="FFFFFF"/>
                    </a:solidFill>
                  </a:tcPr>
                </a:tc>
                <a:tc>
                  <a:txBody>
                    <a:bodyPr/>
                    <a:lstStyle/>
                    <a:p>
                      <a:r>
                        <a:rPr sz="1000" b="0">
                          <a:solidFill>
                            <a:srgbClr val="16181D"/>
                          </a:solidFill>
                          <a:latin typeface="Calibri"/>
                        </a:rPr>
                        <a:t>Broadcom → OpenAI 'Nexus' chips</a:t>
                      </a:r>
                    </a:p>
                  </a:txBody>
                  <a:tcPr>
                    <a:solidFill>
                      <a:srgbClr val="FFFFFF"/>
                    </a:solidFill>
                  </a:tcPr>
                </a:tc>
                <a:tc>
                  <a:txBody>
                    <a:bodyPr/>
                    <a:lstStyle/>
                    <a:p>
                      <a:r>
                        <a:rPr sz="1000" b="0">
                          <a:solidFill>
                            <a:srgbClr val="16181D"/>
                          </a:solidFill>
                          <a:latin typeface="Calibri"/>
                        </a:rPr>
                        <a:t>Debt tied to chip purchases</a:t>
                      </a:r>
                    </a:p>
                  </a:txBody>
                  <a:tcPr>
                    <a:solidFill>
                      <a:srgbClr val="FFFFFF"/>
                    </a:solidFill>
                  </a:tcPr>
                </a:tc>
              </a:tr>
              <a:tr h="274320">
                <a:tc>
                  <a:txBody>
                    <a:bodyPr/>
                    <a:lstStyle/>
                    <a:p>
                      <a:r>
                        <a:rPr sz="1000" b="1">
                          <a:solidFill>
                            <a:srgbClr val="0F2A3D"/>
                          </a:solidFill>
                          <a:latin typeface="Calibri"/>
                        </a:rPr>
                        <a:t>Apollo, Goldman Sachs</a:t>
                      </a:r>
                    </a:p>
                  </a:txBody>
                  <a:tcPr>
                    <a:solidFill>
                      <a:srgbClr val="F1F6F4"/>
                    </a:solidFill>
                  </a:tcPr>
                </a:tc>
                <a:tc>
                  <a:txBody>
                    <a:bodyPr/>
                    <a:lstStyle/>
                    <a:p>
                      <a:r>
                        <a:rPr sz="1000" b="0">
                          <a:solidFill>
                            <a:srgbClr val="16181D"/>
                          </a:solidFill>
                          <a:latin typeface="Calibri"/>
                        </a:rPr>
                        <a:t>Oracle</a:t>
                      </a:r>
                    </a:p>
                  </a:txBody>
                  <a:tcPr>
                    <a:solidFill>
                      <a:srgbClr val="F1F6F4"/>
                    </a:solidFill>
                  </a:tcPr>
                </a:tc>
                <a:tc>
                  <a:txBody>
                    <a:bodyPr/>
                    <a:lstStyle/>
                    <a:p>
                      <a:r>
                        <a:rPr sz="1000" b="0">
                          <a:solidFill>
                            <a:srgbClr val="16181D"/>
                          </a:solidFill>
                          <a:latin typeface="Calibri"/>
                        </a:rPr>
                        <a:t>Off-balance-sheet chip lease</a:t>
                      </a:r>
                    </a:p>
                  </a:txBody>
                  <a:tcPr>
                    <a:solidFill>
                      <a:srgbClr val="F1F6F4"/>
                    </a:solidFill>
                  </a:tcPr>
                </a:tc>
              </a:tr>
              <a:tr h="274320">
                <a:tc>
                  <a:txBody>
                    <a:bodyPr/>
                    <a:lstStyle/>
                    <a:p>
                      <a:r>
                        <a:rPr sz="1000" b="1">
                          <a:solidFill>
                            <a:srgbClr val="0F2A3D"/>
                          </a:solidFill>
                          <a:latin typeface="Calibri"/>
                        </a:rPr>
                        <a:t>Automation Anywhere</a:t>
                      </a:r>
                    </a:p>
                  </a:txBody>
                  <a:tcPr>
                    <a:solidFill>
                      <a:srgbClr val="FFFFFF"/>
                    </a:solidFill>
                  </a:tcPr>
                </a:tc>
                <a:tc>
                  <a:txBody>
                    <a:bodyPr/>
                    <a:lstStyle/>
                    <a:p>
                      <a:r>
                        <a:rPr sz="1000" b="0">
                          <a:solidFill>
                            <a:srgbClr val="16181D"/>
                          </a:solidFill>
                          <a:latin typeface="Calibri"/>
                        </a:rPr>
                        <a:t>Boost.ai</a:t>
                      </a:r>
                    </a:p>
                  </a:txBody>
                  <a:tcPr>
                    <a:solidFill>
                      <a:srgbClr val="FFFFFF"/>
                    </a:solidFill>
                  </a:tcPr>
                </a:tc>
                <a:tc>
                  <a:txBody>
                    <a:bodyPr/>
                    <a:lstStyle/>
                    <a:p>
                      <a:r>
                        <a:rPr sz="1000" b="0">
                          <a:solidFill>
                            <a:srgbClr val="16181D"/>
                          </a:solidFill>
                          <a:latin typeface="Calibri"/>
                        </a:rPr>
                        <a:t>Acquisition</a:t>
                      </a:r>
                    </a:p>
                  </a:txBody>
                  <a:tcPr>
                    <a:solidFill>
                      <a:srgbClr val="FFFFFF"/>
                    </a:solidFill>
                  </a:tcPr>
                </a:tc>
              </a:tr>
              <a:tr h="274320">
                <a:tc>
                  <a:txBody>
                    <a:bodyPr/>
                    <a:lstStyle/>
                    <a:p>
                      <a:r>
                        <a:rPr sz="1000" b="1">
                          <a:solidFill>
                            <a:srgbClr val="0F2A3D"/>
                          </a:solidFill>
                          <a:latin typeface="Calibri"/>
                        </a:rPr>
                        <a:t>Investors (unnamed)</a:t>
                      </a:r>
                    </a:p>
                  </a:txBody>
                  <a:tcPr>
                    <a:solidFill>
                      <a:srgbClr val="F1F6F4"/>
                    </a:solidFill>
                  </a:tcPr>
                </a:tc>
                <a:tc>
                  <a:txBody>
                    <a:bodyPr/>
                    <a:lstStyle/>
                    <a:p>
                      <a:r>
                        <a:rPr sz="1000" b="0">
                          <a:solidFill>
                            <a:srgbClr val="16181D"/>
                          </a:solidFill>
                          <a:latin typeface="Calibri"/>
                        </a:rPr>
                        <a:t>Isomorphic Labs</a:t>
                      </a:r>
                    </a:p>
                  </a:txBody>
                  <a:tcPr>
                    <a:solidFill>
                      <a:srgbClr val="F1F6F4"/>
                    </a:solidFill>
                  </a:tcPr>
                </a:tc>
                <a:tc>
                  <a:txBody>
                    <a:bodyPr/>
                    <a:lstStyle/>
                    <a:p>
                      <a:r>
                        <a:rPr sz="1000" b="0">
                          <a:solidFill>
                            <a:srgbClr val="16181D"/>
                          </a:solidFill>
                          <a:latin typeface="Calibri"/>
                        </a:rPr>
                        <a:t>Equity round</a:t>
                      </a:r>
                    </a:p>
                  </a:txBody>
                  <a:tcPr>
                    <a:solidFill>
                      <a:srgbClr val="F1F6F4"/>
                    </a:solidFill>
                  </a:tcPr>
                </a:tc>
              </a:tr>
              <a:tr h="274320">
                <a:tc>
                  <a:txBody>
                    <a:bodyPr/>
                    <a:lstStyle/>
                    <a:p>
                      <a:r>
                        <a:rPr sz="1000" b="1">
                          <a:solidFill>
                            <a:srgbClr val="0F2A3D"/>
                          </a:solidFill>
                          <a:latin typeface="Calibri"/>
                        </a:rPr>
                        <a:t>Context: Apollo-led lenders</a:t>
                      </a:r>
                    </a:p>
                  </a:txBody>
                  <a:tcPr>
                    <a:solidFill>
                      <a:srgbClr val="FFFFFF"/>
                    </a:solidFill>
                  </a:tcPr>
                </a:tc>
                <a:tc>
                  <a:txBody>
                    <a:bodyPr/>
                    <a:lstStyle/>
                    <a:p>
                      <a:r>
                        <a:rPr sz="1000" b="0">
                          <a:solidFill>
                            <a:srgbClr val="16181D"/>
                          </a:solidFill>
                          <a:latin typeface="Calibri"/>
                        </a:rPr>
                        <a:t>SpaceX</a:t>
                      </a:r>
                    </a:p>
                  </a:txBody>
                  <a:tcPr>
                    <a:solidFill>
                      <a:srgbClr val="FFFFFF"/>
                    </a:solidFill>
                  </a:tcPr>
                </a:tc>
                <a:tc>
                  <a:txBody>
                    <a:bodyPr/>
                    <a:lstStyle/>
                    <a:p>
                      <a:r>
                        <a:rPr sz="1000" b="0">
                          <a:solidFill>
                            <a:srgbClr val="16181D"/>
                          </a:solidFill>
                          <a:latin typeface="Calibri"/>
                        </a:rPr>
                        <a:t>Loans and bonds for NVIDIA chips</a:t>
                      </a:r>
                    </a:p>
                  </a:txBody>
                  <a:tcPr>
                    <a:solidFill>
                      <a:srgbClr val="FFFFFF"/>
                    </a:solidFill>
                  </a:tcPr>
                </a:tc>
              </a:tr>
            </a:tbl>
          </a:graphicData>
        </a:graphic>
      </p:graphicFrame>
      <p:sp>
        <p:nvSpPr>
          <p:cNvPr id="9" name="Sources"/>
          <p:cNvSpPr txBox="1"/>
          <p:nvPr/>
        </p:nvSpPr>
        <p:spPr>
          <a:xfrm>
            <a:off x="502920" y="6199632"/>
            <a:ext cx="11185855" cy="274320"/>
          </a:xfrm>
          <a:prstGeom prst="rect">
            <a:avLst/>
          </a:prstGeom>
          <a:noFill/>
        </p:spPr>
        <p:txBody>
          <a:bodyPr wrap="square" lIns="0" rIns="0" tIns="0" bIns="0" anchor="t">
            <a:spAutoFit/>
          </a:bodyPr>
          <a:lstStyle/>
          <a:p>
            <a:pPr algn="l"/>
            <a:r>
              <a:rPr sz="1000" b="1" i="0">
                <a:solidFill>
                  <a:srgbClr val="0F2A3D"/>
                </a:solidFill>
                <a:latin typeface="Calibri"/>
              </a:rPr>
              <a:t>Sources  </a:t>
            </a:r>
            <a:r>
              <a:rPr sz="1000" b="0" i="0">
                <a:solidFill>
                  <a:srgbClr val="0F7B5F"/>
                </a:solidFill>
                <a:latin typeface="Calibri"/>
                <a:hlinkClick r:id="rId2"/>
              </a:rPr>
              <a:t>[3] Samsung Newsroom</a:t>
            </a:r>
            <a:r>
              <a:rPr sz="1000" b="0" i="0">
                <a:solidFill>
                  <a:srgbClr val="000000"/>
                </a:solidFill>
                <a:latin typeface="Calibri"/>
              </a:rPr>
              <a:t>   </a:t>
            </a:r>
            <a:r>
              <a:rPr sz="1000" b="0" i="0">
                <a:solidFill>
                  <a:srgbClr val="0F7B5F"/>
                </a:solidFill>
                <a:latin typeface="Calibri"/>
                <a:hlinkClick r:id="rId3"/>
              </a:rPr>
              <a:t>[4] The Korea Herald</a:t>
            </a:r>
            <a:r>
              <a:rPr sz="1000" b="0" i="0">
                <a:solidFill>
                  <a:srgbClr val="000000"/>
                </a:solidFill>
                <a:latin typeface="Calibri"/>
              </a:rPr>
              <a:t>   </a:t>
            </a:r>
            <a:r>
              <a:rPr sz="1000" b="0" i="0">
                <a:solidFill>
                  <a:srgbClr val="0F7B5F"/>
                </a:solidFill>
                <a:latin typeface="Calibri"/>
                <a:hlinkClick r:id="rId4"/>
              </a:rPr>
              <a:t>[20] Focus Taiwan</a:t>
            </a:r>
            <a:r>
              <a:rPr sz="1000" b="0" i="0">
                <a:solidFill>
                  <a:srgbClr val="000000"/>
                </a:solidFill>
                <a:latin typeface="Calibri"/>
              </a:rPr>
              <a:t>   </a:t>
            </a:r>
            <a:r>
              <a:rPr sz="1000" b="0" i="0">
                <a:solidFill>
                  <a:srgbClr val="0F7B5F"/>
                </a:solidFill>
                <a:latin typeface="Calibri"/>
                <a:hlinkClick r:id="rId5"/>
              </a:rPr>
              <a:t>[58] CNBC</a:t>
            </a:r>
            <a:r>
              <a:rPr sz="1000" b="0" i="0">
                <a:solidFill>
                  <a:srgbClr val="000000"/>
                </a:solidFill>
                <a:latin typeface="Calibri"/>
              </a:rPr>
              <a:t>   </a:t>
            </a:r>
            <a:r>
              <a:rPr sz="1000" b="0" i="0">
                <a:solidFill>
                  <a:srgbClr val="0F7B5F"/>
                </a:solidFill>
                <a:latin typeface="Calibri"/>
                <a:hlinkClick r:id="rId6"/>
              </a:rPr>
              <a:t>[59] DIGITIMES</a:t>
            </a:r>
            <a:r>
              <a:rPr sz="1000" b="0" i="0">
                <a:solidFill>
                  <a:srgbClr val="000000"/>
                </a:solidFill>
                <a:latin typeface="Calibri"/>
              </a:rPr>
              <a:t>   </a:t>
            </a:r>
            <a:r>
              <a:rPr sz="1000" b="0" i="0">
                <a:solidFill>
                  <a:srgbClr val="0F7B5F"/>
                </a:solidFill>
                <a:latin typeface="Calibri"/>
                <a:hlinkClick r:id="rId7"/>
              </a:rPr>
              <a:t>[50] Bloomberg</a:t>
            </a:r>
            <a:r>
              <a:rPr sz="1000" b="0" i="0">
                <a:solidFill>
                  <a:srgbClr val="000000"/>
                </a:solidFill>
                <a:latin typeface="Calibri"/>
              </a:rPr>
              <a:t>   </a:t>
            </a:r>
            <a:r>
              <a:rPr sz="1000" b="0" i="0">
                <a:solidFill>
                  <a:srgbClr val="0F7B5F"/>
                </a:solidFill>
                <a:latin typeface="Calibri"/>
                <a:hlinkClick r:id="rId8"/>
              </a:rPr>
              <a:t>[8] BleepingComputer</a:t>
            </a:r>
          </a:p>
        </p:txBody>
      </p:sp>
      <p:sp>
        <p:nvSpPr>
          <p:cNvPr id="10" name="Slide number"/>
          <p:cNvSpPr txBox="1"/>
          <p:nvPr/>
        </p:nvSpPr>
        <p:spPr>
          <a:xfrm>
            <a:off x="10591495" y="6473952"/>
            <a:ext cx="1097280" cy="228600"/>
          </a:xfrm>
          <a:prstGeom prst="rect">
            <a:avLst/>
          </a:prstGeom>
          <a:noFill/>
        </p:spPr>
        <p:txBody>
          <a:bodyPr wrap="square" lIns="0" rIns="0" tIns="0" bIns="0" anchor="t">
            <a:spAutoFit/>
          </a:bodyPr>
          <a:lstStyle/>
          <a:p>
            <a:pPr algn="r"/>
            <a:r>
              <a:rPr sz="1000" b="0" i="0">
                <a:solidFill>
                  <a:srgbClr val="16181D"/>
                </a:solidFill>
                <a:latin typeface="Calibri"/>
              </a:rPr>
              <a:t>7 / 10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nning header"/>
          <p:cNvSpPr txBox="1"/>
          <p:nvPr/>
        </p:nvSpPr>
        <p:spPr>
          <a:xfrm>
            <a:off x="502920" y="292608"/>
            <a:ext cx="11185855" cy="274320"/>
          </a:xfrm>
          <a:prstGeom prst="rect">
            <a:avLst/>
          </a:prstGeom>
          <a:noFill/>
        </p:spPr>
        <p:txBody>
          <a:bodyPr wrap="square" lIns="0" rIns="0" tIns="0" bIns="0" anchor="t">
            <a:spAutoFit/>
          </a:bodyPr>
          <a:lstStyle/>
          <a:p>
            <a:pPr algn="l"/>
            <a:r>
              <a:rPr sz="1200" b="1" i="0">
                <a:solidFill>
                  <a:srgbClr val="0F2A3D"/>
                </a:solidFill>
                <a:latin typeface="Calibri"/>
              </a:rPr>
              <a:t>Rajesh's AI &amp; IT Daily</a:t>
            </a:r>
            <a:r>
              <a:rPr sz="1100" b="1" i="0">
                <a:solidFill>
                  <a:srgbClr val="0F7B5F"/>
                </a:solidFill>
                <a:latin typeface="Calibri"/>
              </a:rPr>
              <a:t>   ·   08  INDIA &amp; GLOBAL IT</a:t>
            </a:r>
            <a:r>
              <a:rPr sz="1100" b="0" i="0">
                <a:solidFill>
                  <a:srgbClr val="16181D"/>
                </a:solidFill>
                <a:latin typeface="Calibri"/>
              </a:rPr>
              <a:t>   ·   Thursday, 8 October 2026</a:t>
            </a:r>
          </a:p>
        </p:txBody>
      </p:sp>
      <p:sp>
        <p:nvSpPr>
          <p:cNvPr id="4" name="Title"/>
          <p:cNvSpPr txBox="1"/>
          <p:nvPr/>
        </p:nvSpPr>
        <p:spPr>
          <a:xfrm>
            <a:off x="502920" y="713232"/>
            <a:ext cx="11185855" cy="960120"/>
          </a:xfrm>
          <a:prstGeom prst="rect">
            <a:avLst/>
          </a:prstGeom>
          <a:noFill/>
        </p:spPr>
        <p:txBody>
          <a:bodyPr wrap="square" lIns="0" rIns="0" tIns="0" bIns="0" anchor="t">
            <a:spAutoFit/>
          </a:bodyPr>
          <a:lstStyle/>
          <a:p>
            <a:pPr algn="l"/>
            <a:r>
              <a:rPr sz="3400" b="1" i="0">
                <a:solidFill>
                  <a:srgbClr val="0F2A3D"/>
                </a:solidFill>
                <a:latin typeface="Calibri"/>
              </a:rPr>
              <a:t>India and global IT</a:t>
            </a:r>
          </a:p>
        </p:txBody>
      </p:sp>
      <p:sp>
        <p:nvSpPr>
          <p:cNvPr id="5" name="Takeaways"/>
          <p:cNvSpPr txBox="1"/>
          <p:nvPr/>
        </p:nvSpPr>
        <p:spPr>
          <a:xfrm>
            <a:off x="502920" y="1965960"/>
            <a:ext cx="6675120" cy="4160520"/>
          </a:xfrm>
          <a:prstGeom prst="rect">
            <a:avLst/>
          </a:prstGeom>
          <a:noFill/>
        </p:spPr>
        <p:txBody>
          <a:bodyPr wrap="square" lIns="0" rIns="0" tIns="0" bIns="0">
            <a:spAutoFit/>
          </a:bodyPr>
          <a:lstStyle/>
          <a:p>
            <a:pPr>
              <a:spcAft>
                <a:spcPts val="1000"/>
              </a:spcAft>
            </a:pPr>
            <a:r>
              <a:rPr sz="1600" b="1">
                <a:solidFill>
                  <a:srgbClr val="0F7B5F"/>
                </a:solidFill>
                <a:latin typeface="Calibri"/>
              </a:rPr>
              <a:t>01  </a:t>
            </a:r>
            <a:r>
              <a:rPr sz="1600">
                <a:solidFill>
                  <a:srgbClr val="16181D"/>
                </a:solidFill>
                <a:latin typeface="Calibri"/>
              </a:rPr>
              <a:t>IMC 2026: Modi prioritises 6G, AI, chips and cybersecurity</a:t>
            </a:r>
          </a:p>
          <a:p>
            <a:pPr>
              <a:spcAft>
                <a:spcPts val="1000"/>
              </a:spcAft>
            </a:pPr>
            <a:r>
              <a:rPr sz="1600" b="1">
                <a:solidFill>
                  <a:srgbClr val="0F7B5F"/>
                </a:solidFill>
                <a:latin typeface="Calibri"/>
              </a:rPr>
              <a:t>02  </a:t>
            </a:r>
            <a:r>
              <a:rPr sz="1600">
                <a:solidFill>
                  <a:srgbClr val="16181D"/>
                </a:solidFill>
                <a:latin typeface="Calibri"/>
              </a:rPr>
              <a:t>IndiaAI COO: India must shape AI safety rules; 13 Safe &amp; Trusted AI projects</a:t>
            </a:r>
          </a:p>
          <a:p>
            <a:pPr>
              <a:spcAft>
                <a:spcPts val="1000"/>
              </a:spcAft>
            </a:pPr>
            <a:r>
              <a:rPr sz="1600" b="1">
                <a:solidFill>
                  <a:srgbClr val="0F7B5F"/>
                </a:solidFill>
                <a:latin typeface="Calibri"/>
              </a:rPr>
              <a:t>03  </a:t>
            </a:r>
            <a:r>
              <a:rPr sz="1600">
                <a:solidFill>
                  <a:srgbClr val="16181D"/>
                </a:solidFill>
                <a:latin typeface="Calibri"/>
              </a:rPr>
              <a:t>TCS Q2 FY27 tonight; call 7 pm IST; ~0.5–0.6% QoQ constant-currency growth expected</a:t>
            </a:r>
          </a:p>
          <a:p>
            <a:pPr>
              <a:spcAft>
                <a:spcPts val="1000"/>
              </a:spcAft>
            </a:pPr>
            <a:r>
              <a:rPr sz="1600" b="1">
                <a:solidFill>
                  <a:srgbClr val="0F7B5F"/>
                </a:solidFill>
                <a:latin typeface="Calibri"/>
              </a:rPr>
              <a:t>04  </a:t>
            </a:r>
            <a:r>
              <a:rPr sz="1600">
                <a:solidFill>
                  <a:srgbClr val="16181D"/>
                </a:solidFill>
                <a:latin typeface="Calibri"/>
              </a:rPr>
              <a:t>Desible.ai (agentic BFSI) raises ₹32 crore</a:t>
            </a:r>
          </a:p>
          <a:p>
            <a:pPr>
              <a:spcAft>
                <a:spcPts val="1000"/>
              </a:spcAft>
            </a:pPr>
            <a:r>
              <a:rPr sz="1600" b="1">
                <a:solidFill>
                  <a:srgbClr val="0F7B5F"/>
                </a:solidFill>
                <a:latin typeface="Calibri"/>
              </a:rPr>
              <a:t>05  </a:t>
            </a:r>
            <a:r>
              <a:rPr sz="1600">
                <a:solidFill>
                  <a:srgbClr val="16181D"/>
                </a:solidFill>
                <a:latin typeface="Calibri"/>
              </a:rPr>
              <a:t>H-1B fee struck down on 1 October; policy still in flux</a:t>
            </a:r>
          </a:p>
        </p:txBody>
      </p:sp>
      <p:sp>
        <p:nvSpPr>
          <p:cNvPr id="6" name="Panel"/>
          <p:cNvSpPr/>
          <p:nvPr/>
        </p:nvSpPr>
        <p:spPr>
          <a:xfrm>
            <a:off x="7543800" y="1828800"/>
            <a:ext cx="4144975" cy="4160520"/>
          </a:xfrm>
          <a:prstGeom prst="roundRect">
            <a:avLst>
              <a:gd name="adj" fmla="val 4000"/>
            </a:avLst>
          </a:prstGeom>
          <a:solidFill>
            <a:srgbClr val="E2F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18120" y="2057400"/>
            <a:ext cx="3596335" cy="274320"/>
          </a:xfrm>
          <a:prstGeom prst="rect">
            <a:avLst/>
          </a:prstGeom>
          <a:noFill/>
        </p:spPr>
        <p:txBody>
          <a:bodyPr wrap="square" lIns="0" rIns="0" tIns="0" bIns="0" anchor="t">
            <a:spAutoFit/>
          </a:bodyPr>
          <a:lstStyle/>
          <a:p>
            <a:pPr algn="l"/>
            <a:r>
              <a:rPr sz="1100" b="1" i="0">
                <a:solidFill>
                  <a:srgbClr val="0F7B5F"/>
                </a:solidFill>
                <a:latin typeface="Calibri"/>
              </a:rPr>
              <a:t>POLICY</a:t>
            </a:r>
          </a:p>
        </p:txBody>
      </p:sp>
      <p:sp>
        <p:nvSpPr>
          <p:cNvPr id="8" name="TextBox 7"/>
          <p:cNvSpPr txBox="1"/>
          <p:nvPr/>
        </p:nvSpPr>
        <p:spPr>
          <a:xfrm>
            <a:off x="7818120" y="2423160"/>
            <a:ext cx="3596335" cy="1097280"/>
          </a:xfrm>
          <a:prstGeom prst="rect">
            <a:avLst/>
          </a:prstGeom>
          <a:noFill/>
        </p:spPr>
        <p:txBody>
          <a:bodyPr wrap="square" lIns="0" rIns="0" tIns="0" bIns="0" anchor="t">
            <a:spAutoFit/>
          </a:bodyPr>
          <a:lstStyle/>
          <a:p>
            <a:pPr algn="l"/>
            <a:r>
              <a:rPr sz="2000" b="1" i="0">
                <a:solidFill>
                  <a:srgbClr val="0F2A3D"/>
                </a:solidFill>
                <a:latin typeface="Calibri"/>
              </a:rPr>
              <a:t>Modi opens IMC 2026 with a 6G, AI and chips agenda</a:t>
            </a:r>
          </a:p>
        </p:txBody>
      </p:sp>
      <p:sp>
        <p:nvSpPr>
          <p:cNvPr id="9" name="TextBox 8"/>
          <p:cNvSpPr txBox="1"/>
          <p:nvPr/>
        </p:nvSpPr>
        <p:spPr>
          <a:xfrm>
            <a:off x="7818120" y="3611880"/>
            <a:ext cx="3596335" cy="2148840"/>
          </a:xfrm>
          <a:prstGeom prst="rect">
            <a:avLst/>
          </a:prstGeom>
          <a:noFill/>
        </p:spPr>
        <p:txBody>
          <a:bodyPr wrap="square" lIns="0" rIns="0" tIns="0" bIns="0" anchor="t">
            <a:spAutoFit/>
          </a:bodyPr>
          <a:lstStyle/>
          <a:p>
            <a:pPr algn="l"/>
            <a:r>
              <a:rPr sz="1300" b="0" i="0">
                <a:solidFill>
                  <a:srgbClr val="16181D"/>
                </a:solidFill>
                <a:latin typeface="Calibri"/>
              </a:rPr>
              <a:t>It sets national priorities for telecom AI and chips. Figures are as reported; the PIB transcript was not checked.</a:t>
            </a:r>
          </a:p>
        </p:txBody>
      </p:sp>
      <p:sp>
        <p:nvSpPr>
          <p:cNvPr id="10" name="Sources"/>
          <p:cNvSpPr txBox="1"/>
          <p:nvPr/>
        </p:nvSpPr>
        <p:spPr>
          <a:xfrm>
            <a:off x="502920" y="6199632"/>
            <a:ext cx="11185855" cy="274320"/>
          </a:xfrm>
          <a:prstGeom prst="rect">
            <a:avLst/>
          </a:prstGeom>
          <a:noFill/>
        </p:spPr>
        <p:txBody>
          <a:bodyPr wrap="square" lIns="0" rIns="0" tIns="0" bIns="0" anchor="t">
            <a:spAutoFit/>
          </a:bodyPr>
          <a:lstStyle/>
          <a:p>
            <a:pPr algn="l"/>
            <a:r>
              <a:rPr sz="1000" b="1" i="0">
                <a:solidFill>
                  <a:srgbClr val="0F2A3D"/>
                </a:solidFill>
                <a:latin typeface="Calibri"/>
              </a:rPr>
              <a:t>Sources  </a:t>
            </a:r>
            <a:r>
              <a:rPr sz="1000" b="0" i="0">
                <a:solidFill>
                  <a:srgbClr val="0F7B5F"/>
                </a:solidFill>
                <a:latin typeface="Calibri"/>
                <a:hlinkClick r:id="rId2"/>
              </a:rPr>
              <a:t>[21] ETV Bharat</a:t>
            </a:r>
            <a:r>
              <a:rPr sz="1000" b="0" i="0">
                <a:solidFill>
                  <a:srgbClr val="000000"/>
                </a:solidFill>
                <a:latin typeface="Calibri"/>
              </a:rPr>
              <a:t>   </a:t>
            </a:r>
            <a:r>
              <a:rPr sz="1000" b="0" i="0">
                <a:solidFill>
                  <a:srgbClr val="0F7B5F"/>
                </a:solidFill>
                <a:latin typeface="Calibri"/>
                <a:hlinkClick r:id="rId3"/>
              </a:rPr>
              <a:t>[61] Zee Business</a:t>
            </a:r>
            <a:r>
              <a:rPr sz="1000" b="0" i="0">
                <a:solidFill>
                  <a:srgbClr val="000000"/>
                </a:solidFill>
                <a:latin typeface="Calibri"/>
              </a:rPr>
              <a:t>   </a:t>
            </a:r>
            <a:r>
              <a:rPr sz="1000" b="0" i="0">
                <a:solidFill>
                  <a:srgbClr val="0F7B5F"/>
                </a:solidFill>
                <a:latin typeface="Calibri"/>
                <a:hlinkClick r:id="rId4"/>
              </a:rPr>
              <a:t>[51] Business Standard</a:t>
            </a:r>
            <a:r>
              <a:rPr sz="1000" b="0" i="0">
                <a:solidFill>
                  <a:srgbClr val="000000"/>
                </a:solidFill>
                <a:latin typeface="Calibri"/>
              </a:rPr>
              <a:t>   </a:t>
            </a:r>
            <a:r>
              <a:rPr sz="1000" b="0" i="0">
                <a:solidFill>
                  <a:srgbClr val="0F7B5F"/>
                </a:solidFill>
                <a:latin typeface="Calibri"/>
                <a:hlinkClick r:id="rId5"/>
              </a:rPr>
              <a:t>[22] TCS (exchange filing)</a:t>
            </a:r>
            <a:r>
              <a:rPr sz="1000" b="0" i="0">
                <a:solidFill>
                  <a:srgbClr val="000000"/>
                </a:solidFill>
                <a:latin typeface="Calibri"/>
              </a:rPr>
              <a:t>   </a:t>
            </a:r>
            <a:r>
              <a:rPr sz="1000" b="0" i="0">
                <a:solidFill>
                  <a:srgbClr val="0F7B5F"/>
                </a:solidFill>
                <a:latin typeface="Calibri"/>
                <a:hlinkClick r:id="rId6"/>
              </a:rPr>
              <a:t>[62] Kotak Neo</a:t>
            </a:r>
            <a:r>
              <a:rPr sz="1000" b="0" i="0">
                <a:solidFill>
                  <a:srgbClr val="000000"/>
                </a:solidFill>
                <a:latin typeface="Calibri"/>
              </a:rPr>
              <a:t>   </a:t>
            </a:r>
            <a:r>
              <a:rPr sz="1000" b="0" i="0">
                <a:solidFill>
                  <a:srgbClr val="0F7B5F"/>
                </a:solidFill>
                <a:latin typeface="Calibri"/>
                <a:hlinkClick r:id="rId7"/>
              </a:rPr>
              <a:t>[63] DealStreetAsia</a:t>
            </a:r>
            <a:r>
              <a:rPr sz="1000" b="0" i="0">
                <a:solidFill>
                  <a:srgbClr val="000000"/>
                </a:solidFill>
                <a:latin typeface="Calibri"/>
              </a:rPr>
              <a:t>   </a:t>
            </a:r>
            <a:r>
              <a:rPr sz="1000" b="0" i="0">
                <a:solidFill>
                  <a:srgbClr val="0F7B5F"/>
                </a:solidFill>
                <a:latin typeface="Calibri"/>
                <a:hlinkClick r:id="rId8"/>
              </a:rPr>
              <a:t>[64] Forbes</a:t>
            </a:r>
          </a:p>
        </p:txBody>
      </p:sp>
      <p:sp>
        <p:nvSpPr>
          <p:cNvPr id="11" name="Slide number"/>
          <p:cNvSpPr txBox="1"/>
          <p:nvPr/>
        </p:nvSpPr>
        <p:spPr>
          <a:xfrm>
            <a:off x="10591495" y="6473952"/>
            <a:ext cx="1097280" cy="228600"/>
          </a:xfrm>
          <a:prstGeom prst="rect">
            <a:avLst/>
          </a:prstGeom>
          <a:noFill/>
        </p:spPr>
        <p:txBody>
          <a:bodyPr wrap="square" lIns="0" rIns="0" tIns="0" bIns="0" anchor="t">
            <a:spAutoFit/>
          </a:bodyPr>
          <a:lstStyle/>
          <a:p>
            <a:pPr algn="r"/>
            <a:r>
              <a:rPr sz="1000" b="0" i="0">
                <a:solidFill>
                  <a:srgbClr val="16181D"/>
                </a:solidFill>
                <a:latin typeface="Calibri"/>
              </a:rPr>
              <a:t>8 / 10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nning header"/>
          <p:cNvSpPr txBox="1"/>
          <p:nvPr/>
        </p:nvSpPr>
        <p:spPr>
          <a:xfrm>
            <a:off x="502920" y="292608"/>
            <a:ext cx="11185855" cy="274320"/>
          </a:xfrm>
          <a:prstGeom prst="rect">
            <a:avLst/>
          </a:prstGeom>
          <a:noFill/>
        </p:spPr>
        <p:txBody>
          <a:bodyPr wrap="square" lIns="0" rIns="0" tIns="0" bIns="0" anchor="t">
            <a:spAutoFit/>
          </a:bodyPr>
          <a:lstStyle/>
          <a:p>
            <a:pPr algn="l"/>
            <a:r>
              <a:rPr sz="1200" b="1" i="0">
                <a:solidFill>
                  <a:srgbClr val="0F2A3D"/>
                </a:solidFill>
                <a:latin typeface="Calibri"/>
              </a:rPr>
              <a:t>Rajesh's AI &amp; IT Daily</a:t>
            </a:r>
            <a:r>
              <a:rPr sz="1100" b="1" i="0">
                <a:solidFill>
                  <a:srgbClr val="0F7B5F"/>
                </a:solidFill>
                <a:latin typeface="Calibri"/>
              </a:rPr>
              <a:t>   ·   09  WHAT IT MEANS FOR RAJESH</a:t>
            </a:r>
            <a:r>
              <a:rPr sz="1100" b="0" i="0">
                <a:solidFill>
                  <a:srgbClr val="16181D"/>
                </a:solidFill>
                <a:latin typeface="Calibri"/>
              </a:rPr>
              <a:t>   ·   Thursday, 8 October 2026</a:t>
            </a:r>
          </a:p>
        </p:txBody>
      </p:sp>
      <p:sp>
        <p:nvSpPr>
          <p:cNvPr id="4" name="Title"/>
          <p:cNvSpPr txBox="1"/>
          <p:nvPr/>
        </p:nvSpPr>
        <p:spPr>
          <a:xfrm>
            <a:off x="502920" y="713232"/>
            <a:ext cx="11185855" cy="960120"/>
          </a:xfrm>
          <a:prstGeom prst="rect">
            <a:avLst/>
          </a:prstGeom>
          <a:noFill/>
        </p:spPr>
        <p:txBody>
          <a:bodyPr wrap="square" lIns="0" rIns="0" tIns="0" bIns="0" anchor="t">
            <a:spAutoFit/>
          </a:bodyPr>
          <a:lstStyle/>
          <a:p>
            <a:pPr algn="l"/>
            <a:r>
              <a:rPr sz="3400" b="1" i="0">
                <a:solidFill>
                  <a:srgbClr val="0F2A3D"/>
                </a:solidFill>
                <a:latin typeface="Calibri"/>
              </a:rPr>
              <a:t>What it means for Rajesh</a:t>
            </a:r>
          </a:p>
        </p:txBody>
      </p:sp>
      <p:sp>
        <p:nvSpPr>
          <p:cNvPr id="5" name="Takeaways"/>
          <p:cNvSpPr txBox="1"/>
          <p:nvPr/>
        </p:nvSpPr>
        <p:spPr>
          <a:xfrm>
            <a:off x="502920" y="1965960"/>
            <a:ext cx="6675120" cy="4160520"/>
          </a:xfrm>
          <a:prstGeom prst="rect">
            <a:avLst/>
          </a:prstGeom>
          <a:noFill/>
        </p:spPr>
        <p:txBody>
          <a:bodyPr wrap="square" lIns="0" rIns="0" tIns="0" bIns="0">
            <a:spAutoFit/>
          </a:bodyPr>
          <a:lstStyle/>
          <a:p>
            <a:pPr>
              <a:spcAft>
                <a:spcPts val="1000"/>
              </a:spcAft>
            </a:pPr>
            <a:r>
              <a:rPr sz="1600" b="1">
                <a:solidFill>
                  <a:srgbClr val="0F7B5F"/>
                </a:solidFill>
                <a:latin typeface="Calibri"/>
              </a:rPr>
              <a:t>01  </a:t>
            </a:r>
            <a:r>
              <a:rPr sz="1600">
                <a:solidFill>
                  <a:srgbClr val="16181D"/>
                </a:solidFill>
                <a:latin typeface="Calibri"/>
              </a:rPr>
              <a:t>Re-tier models: small for routing and subagents, mid for planning, large for hard reasoning</a:t>
            </a:r>
          </a:p>
          <a:p>
            <a:pPr>
              <a:spcAft>
                <a:spcPts val="1000"/>
              </a:spcAft>
            </a:pPr>
            <a:r>
              <a:rPr sz="1600" b="1">
                <a:solidFill>
                  <a:srgbClr val="0F7B5F"/>
                </a:solidFill>
                <a:latin typeface="Calibri"/>
              </a:rPr>
              <a:t>02  </a:t>
            </a:r>
            <a:r>
              <a:rPr sz="1600">
                <a:solidFill>
                  <a:srgbClr val="16181D"/>
                </a:solidFill>
                <a:latin typeface="Calibri"/>
              </a:rPr>
              <a:t>Measure cost per completed task; watch the 100K-token price step</a:t>
            </a:r>
          </a:p>
          <a:p>
            <a:pPr>
              <a:spcAft>
                <a:spcPts val="1000"/>
              </a:spcAft>
            </a:pPr>
            <a:r>
              <a:rPr sz="1600" b="1">
                <a:solidFill>
                  <a:srgbClr val="0F7B5F"/>
                </a:solidFill>
                <a:latin typeface="Calibri"/>
              </a:rPr>
              <a:t>03  </a:t>
            </a:r>
            <a:r>
              <a:rPr sz="1600">
                <a:solidFill>
                  <a:srgbClr val="16181D"/>
                </a:solidFill>
                <a:latin typeface="Calibri"/>
              </a:rPr>
              <a:t>Sandbox agents: scoped credentials, network allow-lists, audit logs</a:t>
            </a:r>
          </a:p>
          <a:p>
            <a:pPr>
              <a:spcAft>
                <a:spcPts val="1000"/>
              </a:spcAft>
            </a:pPr>
            <a:r>
              <a:rPr sz="1600" b="1">
                <a:solidFill>
                  <a:srgbClr val="0F7B5F"/>
                </a:solidFill>
                <a:latin typeface="Calibri"/>
              </a:rPr>
              <a:t>04  </a:t>
            </a:r>
            <a:r>
              <a:rPr sz="1600">
                <a:solidFill>
                  <a:srgbClr val="16181D"/>
                </a:solidFill>
                <a:latin typeface="Calibri"/>
              </a:rPr>
              <a:t>Opportunity: evidence-grounded agents for Indian BFSI and healthcare</a:t>
            </a:r>
          </a:p>
          <a:p>
            <a:pPr>
              <a:spcAft>
                <a:spcPts val="1000"/>
              </a:spcAft>
            </a:pPr>
            <a:r>
              <a:rPr sz="1600" b="1">
                <a:solidFill>
                  <a:srgbClr val="0F7B5F"/>
                </a:solidFill>
                <a:latin typeface="Calibri"/>
              </a:rPr>
              <a:t>05  </a:t>
            </a:r>
            <a:r>
              <a:rPr sz="1600">
                <a:solidFill>
                  <a:srgbClr val="16181D"/>
                </a:solidFill>
                <a:latin typeface="Calibri"/>
              </a:rPr>
              <a:t>Experiment: 50-case evaluation, Haiku 5.5 vs your current model</a:t>
            </a:r>
          </a:p>
        </p:txBody>
      </p:sp>
      <p:sp>
        <p:nvSpPr>
          <p:cNvPr id="6" name="Panel"/>
          <p:cNvSpPr/>
          <p:nvPr/>
        </p:nvSpPr>
        <p:spPr>
          <a:xfrm>
            <a:off x="7543800" y="1828800"/>
            <a:ext cx="4144975" cy="4160520"/>
          </a:xfrm>
          <a:prstGeom prst="roundRect">
            <a:avLst>
              <a:gd name="adj" fmla="val 4000"/>
            </a:avLst>
          </a:prstGeom>
          <a:solidFill>
            <a:srgbClr val="E2F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18120" y="2057400"/>
            <a:ext cx="3596335" cy="274320"/>
          </a:xfrm>
          <a:prstGeom prst="rect">
            <a:avLst/>
          </a:prstGeom>
          <a:noFill/>
        </p:spPr>
        <p:txBody>
          <a:bodyPr wrap="square" lIns="0" rIns="0" tIns="0" bIns="0" anchor="t">
            <a:spAutoFit/>
          </a:bodyPr>
          <a:lstStyle/>
          <a:p>
            <a:pPr algn="l"/>
            <a:r>
              <a:rPr sz="1100" b="1" i="0">
                <a:solidFill>
                  <a:srgbClr val="0F7B5F"/>
                </a:solidFill>
                <a:latin typeface="Calibri"/>
              </a:rPr>
              <a:t>THIS WEEK'S 90-MINUTE EXPERIMENT</a:t>
            </a:r>
          </a:p>
        </p:txBody>
      </p:sp>
      <p:sp>
        <p:nvSpPr>
          <p:cNvPr id="8" name="TextBox 7"/>
          <p:cNvSpPr txBox="1"/>
          <p:nvPr/>
        </p:nvSpPr>
        <p:spPr>
          <a:xfrm>
            <a:off x="7818120" y="2423160"/>
            <a:ext cx="3596335" cy="1097280"/>
          </a:xfrm>
          <a:prstGeom prst="rect">
            <a:avLst/>
          </a:prstGeom>
          <a:noFill/>
        </p:spPr>
        <p:txBody>
          <a:bodyPr wrap="square" lIns="0" rIns="0" tIns="0" bIns="0" anchor="t">
            <a:spAutoFit/>
          </a:bodyPr>
          <a:lstStyle/>
          <a:p>
            <a:pPr algn="l"/>
            <a:r>
              <a:rPr sz="2000" b="1" i="0">
                <a:solidFill>
                  <a:srgbClr val="0F2A3D"/>
                </a:solidFill>
                <a:latin typeface="Calibri"/>
              </a:rPr>
              <a:t>Benchmark Haiku 5.5 against your current model on your own evaluation set</a:t>
            </a:r>
          </a:p>
        </p:txBody>
      </p:sp>
      <p:sp>
        <p:nvSpPr>
          <p:cNvPr id="9" name="Panel items"/>
          <p:cNvSpPr txBox="1"/>
          <p:nvPr/>
        </p:nvSpPr>
        <p:spPr>
          <a:xfrm>
            <a:off x="7818120" y="3520440"/>
            <a:ext cx="3596335" cy="2286001"/>
          </a:xfrm>
          <a:prstGeom prst="rect">
            <a:avLst/>
          </a:prstGeom>
          <a:noFill/>
        </p:spPr>
        <p:txBody>
          <a:bodyPr wrap="square" lIns="0" rIns="0" tIns="0" bIns="0" anchor="t">
            <a:spAutoFit/>
          </a:bodyPr>
          <a:lstStyle/>
          <a:p>
            <a:pPr algn="l">
              <a:spcAft>
                <a:spcPts val="600"/>
              </a:spcAft>
            </a:pPr>
            <a:r>
              <a:rPr sz="1300" b="1" i="0">
                <a:solidFill>
                  <a:srgbClr val="0F7B5F"/>
                </a:solidFill>
                <a:latin typeface="Calibri"/>
              </a:rPr>
              <a:t>•  </a:t>
            </a:r>
            <a:r>
              <a:rPr sz="1300" b="0" i="0">
                <a:solidFill>
                  <a:srgbClr val="16181D"/>
                </a:solidFill>
                <a:latin typeface="Calibri"/>
              </a:rPr>
              <a:t>Take 50 real extraction or routing cases from one of your Java or Python services, with expected outputs</a:t>
            </a:r>
          </a:p>
          <a:p>
            <a:pPr algn="l">
              <a:spcAft>
                <a:spcPts val="600"/>
              </a:spcAft>
            </a:pPr>
            <a:r>
              <a:rPr sz="1300" b="1" i="0">
                <a:solidFill>
                  <a:srgbClr val="0F7B5F"/>
                </a:solidFill>
                <a:latin typeface="Calibri"/>
              </a:rPr>
              <a:t>•  </a:t>
            </a:r>
            <a:r>
              <a:rPr sz="1300" b="0" i="0">
                <a:solidFill>
                  <a:srgbClr val="16181D"/>
                </a:solidFill>
                <a:latin typeface="Calibri"/>
              </a:rPr>
              <a:t>Run each case through your current model and claude-haiku-5-5 with identical prompts; set effort explicitly; remove temperature and prefill</a:t>
            </a:r>
          </a:p>
          <a:p>
            <a:pPr algn="l">
              <a:spcAft>
                <a:spcPts val="600"/>
              </a:spcAft>
            </a:pPr>
            <a:r>
              <a:rPr sz="1300" b="1" i="0">
                <a:solidFill>
                  <a:srgbClr val="0F7B5F"/>
                </a:solidFill>
                <a:latin typeface="Calibri"/>
              </a:rPr>
              <a:t>•  </a:t>
            </a:r>
            <a:r>
              <a:rPr sz="1300" b="0" i="0">
                <a:solidFill>
                  <a:srgbClr val="16181D"/>
                </a:solidFill>
                <a:latin typeface="Calibri"/>
              </a:rPr>
              <a:t>Log accuracy, p95 latency, tokens, and cost per correct answer at $0.10/$0.50 per million tokens</a:t>
            </a:r>
          </a:p>
          <a:p>
            <a:pPr algn="l">
              <a:spcAft>
                <a:spcPts val="600"/>
              </a:spcAft>
            </a:pPr>
            <a:r>
              <a:rPr sz="1300" b="1" i="0">
                <a:solidFill>
                  <a:srgbClr val="0F7B5F"/>
                </a:solidFill>
                <a:latin typeface="Calibri"/>
              </a:rPr>
              <a:t>•  </a:t>
            </a:r>
            <a:r>
              <a:rPr sz="1300" b="0" i="0">
                <a:solidFill>
                  <a:srgbClr val="16181D"/>
                </a:solidFill>
                <a:latin typeface="Calibri"/>
              </a:rPr>
              <a:t>Decide on cost per correct answer, then repeat with prompts above 100K tokens to measure the price step</a:t>
            </a:r>
          </a:p>
        </p:txBody>
      </p:sp>
      <p:sp>
        <p:nvSpPr>
          <p:cNvPr id="10" name="Sources"/>
          <p:cNvSpPr txBox="1"/>
          <p:nvPr/>
        </p:nvSpPr>
        <p:spPr>
          <a:xfrm>
            <a:off x="502920" y="6199632"/>
            <a:ext cx="11185855" cy="274320"/>
          </a:xfrm>
          <a:prstGeom prst="rect">
            <a:avLst/>
          </a:prstGeom>
          <a:noFill/>
        </p:spPr>
        <p:txBody>
          <a:bodyPr wrap="square" lIns="0" rIns="0" tIns="0" bIns="0" anchor="t">
            <a:spAutoFit/>
          </a:bodyPr>
          <a:lstStyle/>
          <a:p>
            <a:pPr algn="l"/>
            <a:r>
              <a:rPr sz="1000" b="1" i="0">
                <a:solidFill>
                  <a:srgbClr val="0F2A3D"/>
                </a:solidFill>
                <a:latin typeface="Calibri"/>
              </a:rPr>
              <a:t>Sources  </a:t>
            </a:r>
            <a:r>
              <a:rPr sz="1000" b="0" i="0">
                <a:solidFill>
                  <a:srgbClr val="0F7B5F"/>
                </a:solidFill>
                <a:latin typeface="Calibri"/>
                <a:hlinkClick r:id="rId2"/>
              </a:rPr>
              <a:t>[1] Anthropic</a:t>
            </a:r>
            <a:r>
              <a:rPr sz="1000" b="0" i="0">
                <a:solidFill>
                  <a:srgbClr val="000000"/>
                </a:solidFill>
                <a:latin typeface="Calibri"/>
              </a:rPr>
              <a:t>   </a:t>
            </a:r>
            <a:r>
              <a:rPr sz="1000" b="0" i="0">
                <a:solidFill>
                  <a:srgbClr val="0F7B5F"/>
                </a:solidFill>
                <a:latin typeface="Calibri"/>
                <a:hlinkClick r:id="rId3"/>
              </a:rPr>
              <a:t>[2] Claude Platform Docs</a:t>
            </a:r>
            <a:r>
              <a:rPr sz="1000" b="0" i="0">
                <a:solidFill>
                  <a:srgbClr val="000000"/>
                </a:solidFill>
                <a:latin typeface="Calibri"/>
              </a:rPr>
              <a:t>   </a:t>
            </a:r>
            <a:r>
              <a:rPr sz="1000" b="0" i="0">
                <a:solidFill>
                  <a:srgbClr val="0F7B5F"/>
                </a:solidFill>
                <a:latin typeface="Calibri"/>
                <a:hlinkClick r:id="rId4"/>
              </a:rPr>
              <a:t>[13] Neowin</a:t>
            </a:r>
            <a:r>
              <a:rPr sz="1000" b="0" i="0">
                <a:solidFill>
                  <a:srgbClr val="000000"/>
                </a:solidFill>
                <a:latin typeface="Calibri"/>
              </a:rPr>
              <a:t>   </a:t>
            </a:r>
            <a:r>
              <a:rPr sz="1000" b="0" i="0">
                <a:solidFill>
                  <a:srgbClr val="0F7B5F"/>
                </a:solidFill>
                <a:latin typeface="Calibri"/>
                <a:hlinkClick r:id="rId5"/>
              </a:rPr>
              <a:t>[16] GitHub Changelog</a:t>
            </a:r>
            <a:r>
              <a:rPr sz="1000" b="0" i="0">
                <a:solidFill>
                  <a:srgbClr val="000000"/>
                </a:solidFill>
                <a:latin typeface="Calibri"/>
              </a:rPr>
              <a:t>   </a:t>
            </a:r>
            <a:r>
              <a:rPr sz="1000" b="0" i="0">
                <a:solidFill>
                  <a:srgbClr val="0F7B5F"/>
                </a:solidFill>
                <a:latin typeface="Calibri"/>
                <a:hlinkClick r:id="rId6"/>
              </a:rPr>
              <a:t>[36] BleepingComputer</a:t>
            </a:r>
            <a:r>
              <a:rPr sz="1000" b="0" i="0">
                <a:solidFill>
                  <a:srgbClr val="000000"/>
                </a:solidFill>
                <a:latin typeface="Calibri"/>
              </a:rPr>
              <a:t>   </a:t>
            </a:r>
            <a:r>
              <a:rPr sz="1000" b="0" i="0">
                <a:solidFill>
                  <a:srgbClr val="0F7B5F"/>
                </a:solidFill>
                <a:latin typeface="Calibri"/>
                <a:hlinkClick r:id="rId7"/>
              </a:rPr>
              <a:t>[8] BleepingComputer</a:t>
            </a:r>
            <a:r>
              <a:rPr sz="1000" b="0" i="0">
                <a:solidFill>
                  <a:srgbClr val="000000"/>
                </a:solidFill>
                <a:latin typeface="Calibri"/>
              </a:rPr>
              <a:t>   </a:t>
            </a:r>
            <a:r>
              <a:rPr sz="1000" b="0" i="0">
                <a:solidFill>
                  <a:srgbClr val="0F7B5F"/>
                </a:solidFill>
                <a:latin typeface="Calibri"/>
                <a:hlinkClick r:id="rId8"/>
              </a:rPr>
              <a:t>[63] DealStreetAsia</a:t>
            </a:r>
          </a:p>
        </p:txBody>
      </p:sp>
      <p:sp>
        <p:nvSpPr>
          <p:cNvPr id="11" name="Slide number"/>
          <p:cNvSpPr txBox="1"/>
          <p:nvPr/>
        </p:nvSpPr>
        <p:spPr>
          <a:xfrm>
            <a:off x="10591495" y="6473952"/>
            <a:ext cx="1097280" cy="228600"/>
          </a:xfrm>
          <a:prstGeom prst="rect">
            <a:avLst/>
          </a:prstGeom>
          <a:noFill/>
        </p:spPr>
        <p:txBody>
          <a:bodyPr wrap="square" lIns="0" rIns="0" tIns="0" bIns="0" anchor="t">
            <a:spAutoFit/>
          </a:bodyPr>
          <a:lstStyle/>
          <a:p>
            <a:pPr algn="r"/>
            <a:r>
              <a:rPr sz="1000" b="0" i="0">
                <a:solidFill>
                  <a:srgbClr val="16181D"/>
                </a:solidFill>
                <a:latin typeface="Calibri"/>
              </a:rPr>
              <a:t>9 / 10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0F2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nning header"/>
          <p:cNvSpPr txBox="1"/>
          <p:nvPr/>
        </p:nvSpPr>
        <p:spPr>
          <a:xfrm>
            <a:off x="502920" y="292608"/>
            <a:ext cx="11185855" cy="274320"/>
          </a:xfrm>
          <a:prstGeom prst="rect">
            <a:avLst/>
          </a:prstGeom>
          <a:noFill/>
        </p:spPr>
        <p:txBody>
          <a:bodyPr wrap="square" lIns="0" rIns="0" tIns="0" bIns="0" anchor="t">
            <a:spAutoFit/>
          </a:bodyPr>
          <a:lstStyle/>
          <a:p>
            <a:pPr algn="l"/>
            <a:r>
              <a:rPr sz="1200" b="1" i="0">
                <a:solidFill>
                  <a:srgbClr val="FFFFFF"/>
                </a:solidFill>
                <a:latin typeface="Calibri"/>
              </a:rPr>
              <a:t>Rajesh's AI &amp; IT Daily</a:t>
            </a:r>
            <a:r>
              <a:rPr sz="1100" b="1" i="0">
                <a:solidFill>
                  <a:srgbClr val="9FD6D0"/>
                </a:solidFill>
                <a:latin typeface="Calibri"/>
              </a:rPr>
              <a:t>   ·   10  WATCHLIST &amp; SOURCE DESK</a:t>
            </a:r>
            <a:r>
              <a:rPr sz="1100" b="0" i="0">
                <a:solidFill>
                  <a:srgbClr val="FFFFFF"/>
                </a:solidFill>
                <a:latin typeface="Calibri"/>
              </a:rPr>
              <a:t>   ·   Thursday, 8 October 2026</a:t>
            </a:r>
          </a:p>
        </p:txBody>
      </p:sp>
      <p:sp>
        <p:nvSpPr>
          <p:cNvPr id="4" name="Title"/>
          <p:cNvSpPr txBox="1"/>
          <p:nvPr/>
        </p:nvSpPr>
        <p:spPr>
          <a:xfrm>
            <a:off x="502920" y="713232"/>
            <a:ext cx="11185855" cy="960120"/>
          </a:xfrm>
          <a:prstGeom prst="rect">
            <a:avLst/>
          </a:prstGeom>
          <a:noFill/>
        </p:spPr>
        <p:txBody>
          <a:bodyPr wrap="square" lIns="0" rIns="0" tIns="0" bIns="0" anchor="t">
            <a:spAutoFit/>
          </a:bodyPr>
          <a:lstStyle/>
          <a:p>
            <a:pPr algn="l"/>
            <a:r>
              <a:rPr sz="3400" b="1" i="0">
                <a:solidFill>
                  <a:srgbClr val="FFFFFF"/>
                </a:solidFill>
                <a:latin typeface="Calibri"/>
              </a:rPr>
              <a:t>Watchlist and sources</a:t>
            </a:r>
          </a:p>
        </p:txBody>
      </p:sp>
      <p:sp>
        <p:nvSpPr>
          <p:cNvPr id="5" name="Takeaways"/>
          <p:cNvSpPr txBox="1"/>
          <p:nvPr/>
        </p:nvSpPr>
        <p:spPr>
          <a:xfrm>
            <a:off x="502920" y="1965960"/>
            <a:ext cx="6675120" cy="4160520"/>
          </a:xfrm>
          <a:prstGeom prst="rect">
            <a:avLst/>
          </a:prstGeom>
          <a:noFill/>
        </p:spPr>
        <p:txBody>
          <a:bodyPr wrap="square" lIns="0" rIns="0" tIns="0" bIns="0">
            <a:spAutoFit/>
          </a:bodyPr>
          <a:lstStyle/>
          <a:p>
            <a:pPr>
              <a:spcAft>
                <a:spcPts val="1000"/>
              </a:spcAft>
            </a:pPr>
            <a:r>
              <a:rPr sz="1600" b="1">
                <a:solidFill>
                  <a:srgbClr val="0F7B5F"/>
                </a:solidFill>
                <a:latin typeface="Calibri"/>
              </a:rPr>
              <a:t>01  </a:t>
            </a:r>
            <a:r>
              <a:rPr sz="1600">
                <a:solidFill>
                  <a:srgbClr val="FFFFFF"/>
                </a:solidFill>
                <a:latin typeface="Calibri"/>
              </a:rPr>
              <a:t>Tonight: TCS Q2 FY27; tomorrow: Python 3.15.0</a:t>
            </a:r>
          </a:p>
          <a:p>
            <a:pPr>
              <a:spcAft>
                <a:spcPts val="1000"/>
              </a:spcAft>
            </a:pPr>
            <a:r>
              <a:rPr sz="1600" b="1">
                <a:solidFill>
                  <a:srgbClr val="0F7B5F"/>
                </a:solidFill>
                <a:latin typeface="Calibri"/>
              </a:rPr>
              <a:t>02  </a:t>
            </a:r>
            <a:r>
              <a:rPr sz="1600">
                <a:solidFill>
                  <a:srgbClr val="FFFFFF"/>
                </a:solidFill>
                <a:latin typeface="Calibri"/>
              </a:rPr>
              <a:t>15 Oct: TSMC Q3 call and Tech Mahindra results; 20 Oct: JDK patches</a:t>
            </a:r>
          </a:p>
          <a:p>
            <a:pPr>
              <a:spcAft>
                <a:spcPts val="1000"/>
              </a:spcAft>
            </a:pPr>
            <a:r>
              <a:rPr sz="1600" b="1">
                <a:solidFill>
                  <a:srgbClr val="0F7B5F"/>
                </a:solidFill>
                <a:latin typeface="Calibri"/>
              </a:rPr>
              <a:t>03  </a:t>
            </a:r>
            <a:r>
              <a:rPr sz="1600">
                <a:solidFill>
                  <a:srgbClr val="FFFFFF"/>
                </a:solidFill>
                <a:latin typeface="Calibri"/>
              </a:rPr>
              <a:t>Open: Haiku 5.5's cost per task; Broadcom–OpenAI deal size; NextMR clearance date</a:t>
            </a:r>
          </a:p>
          <a:p>
            <a:pPr>
              <a:spcAft>
                <a:spcPts val="1000"/>
              </a:spcAft>
            </a:pPr>
            <a:r>
              <a:rPr sz="1600" b="1">
                <a:solidFill>
                  <a:srgbClr val="0F7B5F"/>
                </a:solidFill>
                <a:latin typeface="Calibri"/>
              </a:rPr>
              <a:t>04  </a:t>
            </a:r>
            <a:r>
              <a:rPr sz="1600">
                <a:solidFill>
                  <a:srgbClr val="FFFFFF"/>
                </a:solidFill>
                <a:latin typeface="Calibri"/>
              </a:rPr>
              <a:t>Takeaways: cheap tokens, mandatory sandboxes, healthcare data before proof</a:t>
            </a:r>
          </a:p>
          <a:p>
            <a:pPr>
              <a:spcAft>
                <a:spcPts val="1000"/>
              </a:spcAft>
            </a:pPr>
            <a:r>
              <a:rPr sz="1600" b="1">
                <a:solidFill>
                  <a:srgbClr val="0F7B5F"/>
                </a:solidFill>
                <a:latin typeface="Calibri"/>
              </a:rPr>
              <a:t>05  </a:t>
            </a:r>
            <a:r>
              <a:rPr sz="1600">
                <a:solidFill>
                  <a:srgbClr val="FFFFFF"/>
                </a:solidFill>
                <a:latin typeface="Calibri"/>
              </a:rPr>
              <a:t>Every citation in the deck and the PDF links to the indexed source list</a:t>
            </a:r>
          </a:p>
        </p:txBody>
      </p:sp>
      <p:sp>
        <p:nvSpPr>
          <p:cNvPr id="6" name="Panel"/>
          <p:cNvSpPr/>
          <p:nvPr/>
        </p:nvSpPr>
        <p:spPr>
          <a:xfrm>
            <a:off x="7543800" y="1828800"/>
            <a:ext cx="4144975" cy="416052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18120" y="2057400"/>
            <a:ext cx="3596335" cy="274320"/>
          </a:xfrm>
          <a:prstGeom prst="rect">
            <a:avLst/>
          </a:prstGeom>
          <a:noFill/>
        </p:spPr>
        <p:txBody>
          <a:bodyPr wrap="square" lIns="0" rIns="0" tIns="0" bIns="0" anchor="t">
            <a:spAutoFit/>
          </a:bodyPr>
          <a:lstStyle/>
          <a:p>
            <a:pPr algn="l"/>
            <a:r>
              <a:rPr sz="1100" b="1" i="0">
                <a:solidFill>
                  <a:srgbClr val="0F7B5F"/>
                </a:solidFill>
                <a:latin typeface="Calibri"/>
              </a:rPr>
              <a:t>THREE TAKEAWAYS</a:t>
            </a:r>
          </a:p>
        </p:txBody>
      </p:sp>
      <p:sp>
        <p:nvSpPr>
          <p:cNvPr id="8" name="TextBox 7"/>
          <p:cNvSpPr txBox="1"/>
          <p:nvPr/>
        </p:nvSpPr>
        <p:spPr>
          <a:xfrm>
            <a:off x="7818120" y="2423160"/>
            <a:ext cx="3596335" cy="1097280"/>
          </a:xfrm>
          <a:prstGeom prst="rect">
            <a:avLst/>
          </a:prstGeom>
          <a:noFill/>
        </p:spPr>
        <p:txBody>
          <a:bodyPr wrap="square" lIns="0" rIns="0" tIns="0" bIns="0" anchor="t">
            <a:spAutoFit/>
          </a:bodyPr>
          <a:lstStyle/>
          <a:p>
            <a:pPr algn="l"/>
            <a:r>
              <a:rPr sz="2000" b="1" i="0">
                <a:solidFill>
                  <a:srgbClr val="0F2A3D"/>
                </a:solidFill>
                <a:latin typeface="Calibri"/>
              </a:rPr>
              <a:t>Remember three things</a:t>
            </a:r>
          </a:p>
        </p:txBody>
      </p:sp>
      <p:sp>
        <p:nvSpPr>
          <p:cNvPr id="9" name="Panel items"/>
          <p:cNvSpPr txBox="1"/>
          <p:nvPr/>
        </p:nvSpPr>
        <p:spPr>
          <a:xfrm>
            <a:off x="7818120" y="3520440"/>
            <a:ext cx="3596335" cy="2286001"/>
          </a:xfrm>
          <a:prstGeom prst="rect">
            <a:avLst/>
          </a:prstGeom>
          <a:noFill/>
        </p:spPr>
        <p:txBody>
          <a:bodyPr wrap="square" lIns="0" rIns="0" tIns="0" bIns="0" anchor="t">
            <a:spAutoFit/>
          </a:bodyPr>
          <a:lstStyle/>
          <a:p>
            <a:pPr algn="l">
              <a:spcAft>
                <a:spcPts val="600"/>
              </a:spcAft>
            </a:pPr>
            <a:r>
              <a:rPr sz="1300" b="1" i="0">
                <a:solidFill>
                  <a:srgbClr val="0F7B5F"/>
                </a:solidFill>
                <a:latin typeface="Calibri"/>
              </a:rPr>
              <a:t>•  </a:t>
            </a:r>
            <a:r>
              <a:rPr sz="1300" b="0" i="0">
                <a:solidFill>
                  <a:srgbClr val="16181D"/>
                </a:solidFill>
                <a:latin typeface="Calibri"/>
              </a:rPr>
              <a:t>Small models are ~10x cheaper per token; measure cost per task</a:t>
            </a:r>
          </a:p>
          <a:p>
            <a:pPr algn="l">
              <a:spcAft>
                <a:spcPts val="600"/>
              </a:spcAft>
            </a:pPr>
            <a:r>
              <a:rPr sz="1300" b="1" i="0">
                <a:solidFill>
                  <a:srgbClr val="0F7B5F"/>
                </a:solidFill>
                <a:latin typeface="Calibri"/>
              </a:rPr>
              <a:t>•  </a:t>
            </a:r>
            <a:r>
              <a:rPr sz="1300" b="0" i="0">
                <a:solidFill>
                  <a:srgbClr val="16181D"/>
                </a:solidFill>
                <a:latin typeface="Calibri"/>
              </a:rPr>
              <a:t>Sandboxing and patching are part of shipping agents</a:t>
            </a:r>
          </a:p>
          <a:p>
            <a:pPr algn="l">
              <a:spcAft>
                <a:spcPts val="600"/>
              </a:spcAft>
            </a:pPr>
            <a:r>
              <a:rPr sz="1300" b="1" i="0">
                <a:solidFill>
                  <a:srgbClr val="0F7B5F"/>
                </a:solidFill>
                <a:latin typeface="Calibri"/>
              </a:rPr>
              <a:t>•  </a:t>
            </a:r>
            <a:r>
              <a:rPr sz="1300" b="0" i="0">
                <a:solidFill>
                  <a:srgbClr val="16181D"/>
                </a:solidFill>
                <a:latin typeface="Calibri"/>
              </a:rPr>
              <a:t>Healthcare AI's money is in data and labs; clinical proof lags</a:t>
            </a:r>
          </a:p>
        </p:txBody>
      </p:sp>
      <p:sp>
        <p:nvSpPr>
          <p:cNvPr id="10" name="Sources strip"/>
          <p:cNvSpPr/>
          <p:nvPr/>
        </p:nvSpPr>
        <p:spPr>
          <a:xfrm>
            <a:off x="393192" y="6144768"/>
            <a:ext cx="11405311" cy="347472"/>
          </a:xfrm>
          <a:prstGeom prst="roundRect">
            <a:avLst>
              <a:gd name="adj" fmla="val 3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Sources"/>
          <p:cNvSpPr txBox="1"/>
          <p:nvPr/>
        </p:nvSpPr>
        <p:spPr>
          <a:xfrm>
            <a:off x="502920" y="6199632"/>
            <a:ext cx="11185855" cy="274320"/>
          </a:xfrm>
          <a:prstGeom prst="rect">
            <a:avLst/>
          </a:prstGeom>
          <a:noFill/>
        </p:spPr>
        <p:txBody>
          <a:bodyPr wrap="square" lIns="0" rIns="0" tIns="0" bIns="0" anchor="t">
            <a:spAutoFit/>
          </a:bodyPr>
          <a:lstStyle/>
          <a:p>
            <a:pPr algn="l"/>
            <a:r>
              <a:rPr sz="1000" b="1" i="0">
                <a:solidFill>
                  <a:srgbClr val="0F2A3D"/>
                </a:solidFill>
                <a:latin typeface="Calibri"/>
              </a:rPr>
              <a:t>Sources  </a:t>
            </a:r>
            <a:r>
              <a:rPr sz="1000" b="0" i="0">
                <a:solidFill>
                  <a:srgbClr val="0F7B5F"/>
                </a:solidFill>
                <a:latin typeface="Calibri"/>
                <a:hlinkClick r:id="rId2"/>
              </a:rPr>
              <a:t>[22] TCS (exchange filing)</a:t>
            </a:r>
            <a:r>
              <a:rPr sz="1000" b="0" i="0">
                <a:solidFill>
                  <a:srgbClr val="000000"/>
                </a:solidFill>
                <a:latin typeface="Calibri"/>
              </a:rPr>
              <a:t>   </a:t>
            </a:r>
            <a:r>
              <a:rPr sz="1000" b="0" i="0">
                <a:solidFill>
                  <a:srgbClr val="0F7B5F"/>
                </a:solidFill>
                <a:latin typeface="Calibri"/>
                <a:hlinkClick r:id="rId3"/>
              </a:rPr>
              <a:t>[54] Python.org</a:t>
            </a:r>
            <a:r>
              <a:rPr sz="1000" b="0" i="0">
                <a:solidFill>
                  <a:srgbClr val="000000"/>
                </a:solidFill>
                <a:latin typeface="Calibri"/>
              </a:rPr>
              <a:t>   </a:t>
            </a:r>
            <a:r>
              <a:rPr sz="1000" b="0" i="0">
                <a:solidFill>
                  <a:srgbClr val="0F7B5F"/>
                </a:solidFill>
                <a:latin typeface="Calibri"/>
                <a:hlinkClick r:id="rId4"/>
              </a:rPr>
              <a:t>[25] Technobaboy</a:t>
            </a:r>
            <a:r>
              <a:rPr sz="1000" b="0" i="0">
                <a:solidFill>
                  <a:srgbClr val="000000"/>
                </a:solidFill>
                <a:latin typeface="Calibri"/>
              </a:rPr>
              <a:t>   </a:t>
            </a:r>
            <a:r>
              <a:rPr sz="1000" b="0" i="0">
                <a:solidFill>
                  <a:srgbClr val="0F7B5F"/>
                </a:solidFill>
                <a:latin typeface="Calibri"/>
                <a:hlinkClick r:id="rId5"/>
              </a:rPr>
              <a:t>[20] Focus Taiwan</a:t>
            </a:r>
            <a:r>
              <a:rPr sz="1000" b="0" i="0">
                <a:solidFill>
                  <a:srgbClr val="000000"/>
                </a:solidFill>
                <a:latin typeface="Calibri"/>
              </a:rPr>
              <a:t>   </a:t>
            </a:r>
            <a:r>
              <a:rPr sz="1000" b="0" i="0">
                <a:solidFill>
                  <a:srgbClr val="0F7B5F"/>
                </a:solidFill>
                <a:latin typeface="Calibri"/>
                <a:hlinkClick r:id="rId6"/>
              </a:rPr>
              <a:t>[65] Angel One</a:t>
            </a:r>
            <a:r>
              <a:rPr sz="1000" b="0" i="0">
                <a:solidFill>
                  <a:srgbClr val="000000"/>
                </a:solidFill>
                <a:latin typeface="Calibri"/>
              </a:rPr>
              <a:t>   </a:t>
            </a:r>
            <a:r>
              <a:rPr sz="1000" b="0" i="0">
                <a:solidFill>
                  <a:srgbClr val="0F7B5F"/>
                </a:solidFill>
                <a:latin typeface="Calibri"/>
                <a:hlinkClick r:id="rId7"/>
              </a:rPr>
              <a:t>[55] Java.com</a:t>
            </a:r>
            <a:r>
              <a:rPr sz="1000" b="0" i="0">
                <a:solidFill>
                  <a:srgbClr val="000000"/>
                </a:solidFill>
                <a:latin typeface="Calibri"/>
              </a:rPr>
              <a:t>   </a:t>
            </a:r>
            <a:r>
              <a:rPr sz="1000" b="0" i="0">
                <a:solidFill>
                  <a:srgbClr val="0F7B5F"/>
                </a:solidFill>
                <a:latin typeface="Calibri"/>
                <a:hlinkClick r:id="rId8"/>
              </a:rPr>
              <a:t>[4] The Korea Herald</a:t>
            </a:r>
          </a:p>
        </p:txBody>
      </p:sp>
      <p:sp>
        <p:nvSpPr>
          <p:cNvPr id="12" name="Slide number"/>
          <p:cNvSpPr txBox="1"/>
          <p:nvPr/>
        </p:nvSpPr>
        <p:spPr>
          <a:xfrm>
            <a:off x="10591495" y="6473952"/>
            <a:ext cx="1097280" cy="228600"/>
          </a:xfrm>
          <a:prstGeom prst="rect">
            <a:avLst/>
          </a:prstGeom>
          <a:noFill/>
        </p:spPr>
        <p:txBody>
          <a:bodyPr wrap="square" lIns="0" rIns="0" tIns="0" bIns="0" anchor="t">
            <a:spAutoFit/>
          </a:bodyPr>
          <a:lstStyle/>
          <a:p>
            <a:pPr algn="r"/>
            <a:r>
              <a:rPr sz="1000" b="0" i="0">
                <a:solidFill>
                  <a:srgbClr val="FFFFFF"/>
                </a:solidFill>
                <a:latin typeface="Calibri"/>
              </a:rPr>
              <a:t>10 / 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Rajesh's AI &amp; IT Daily — Thursday, 8 October 2026</dc:title>
  <dc:subject>Coverage window 7 Oct 2026, 15:17 IST to 8 Oct 2026, 15:17 IST</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